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sldIdLst>
    <p:sldId id="256" r:id="rId2"/>
    <p:sldId id="309" r:id="rId3"/>
    <p:sldId id="307" r:id="rId4"/>
    <p:sldId id="308" r:id="rId5"/>
    <p:sldId id="299" r:id="rId6"/>
    <p:sldId id="301" r:id="rId7"/>
    <p:sldId id="300" r:id="rId8"/>
    <p:sldId id="311" r:id="rId9"/>
    <p:sldId id="303" r:id="rId10"/>
    <p:sldId id="304" r:id="rId11"/>
    <p:sldId id="305" r:id="rId12"/>
    <p:sldId id="312" r:id="rId13"/>
    <p:sldId id="306" r:id="rId14"/>
    <p:sldId id="310" r:id="rId15"/>
    <p:sldId id="257" r:id="rId16"/>
    <p:sldId id="258" r:id="rId17"/>
    <p:sldId id="259" r:id="rId18"/>
    <p:sldId id="260" r:id="rId19"/>
    <p:sldId id="261" r:id="rId20"/>
    <p:sldId id="262" r:id="rId21"/>
    <p:sldId id="263" r:id="rId22"/>
    <p:sldId id="264" r:id="rId23"/>
    <p:sldId id="265" r:id="rId24"/>
    <p:sldId id="266" r:id="rId25"/>
    <p:sldId id="267" r:id="rId26"/>
    <p:sldId id="269" r:id="rId27"/>
    <p:sldId id="270" r:id="rId28"/>
    <p:sldId id="272" r:id="rId29"/>
    <p:sldId id="273" r:id="rId30"/>
    <p:sldId id="271" r:id="rId31"/>
    <p:sldId id="274" r:id="rId32"/>
    <p:sldId id="276" r:id="rId33"/>
    <p:sldId id="275" r:id="rId34"/>
    <p:sldId id="277" r:id="rId35"/>
    <p:sldId id="278" r:id="rId36"/>
    <p:sldId id="279" r:id="rId37"/>
    <p:sldId id="280" r:id="rId38"/>
    <p:sldId id="281" r:id="rId39"/>
    <p:sldId id="282" r:id="rId40"/>
    <p:sldId id="283" r:id="rId41"/>
    <p:sldId id="284" r:id="rId42"/>
    <p:sldId id="285" r:id="rId43"/>
    <p:sldId id="289" r:id="rId44"/>
    <p:sldId id="287" r:id="rId45"/>
    <p:sldId id="288" r:id="rId46"/>
    <p:sldId id="290" r:id="rId47"/>
    <p:sldId id="291" r:id="rId48"/>
    <p:sldId id="292" r:id="rId49"/>
    <p:sldId id="293" r:id="rId50"/>
    <p:sldId id="294" r:id="rId51"/>
    <p:sldId id="295" r:id="rId52"/>
    <p:sldId id="296" r:id="rId53"/>
    <p:sldId id="297"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143"/>
    <p:restoredTop sz="75914"/>
  </p:normalViewPr>
  <p:slideViewPr>
    <p:cSldViewPr snapToGrid="0">
      <p:cViewPr varScale="1">
        <p:scale>
          <a:sx n="80" d="100"/>
          <a:sy n="80" d="100"/>
        </p:scale>
        <p:origin x="11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F355EE-D2C6-7747-8AE5-870D822C0242}" type="datetimeFigureOut">
              <a:rPr lang="en-US" smtClean="0"/>
              <a:t>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B1F6B5-82FD-5A43-AA2F-B215362424A2}" type="slidenum">
              <a:rPr lang="en-US" smtClean="0"/>
              <a:t>‹#›</a:t>
            </a:fld>
            <a:endParaRPr lang="en-US"/>
          </a:p>
        </p:txBody>
      </p:sp>
    </p:spTree>
    <p:extLst>
      <p:ext uri="{BB962C8B-B14F-4D97-AF65-F5344CB8AC3E}">
        <p14:creationId xmlns:p14="http://schemas.microsoft.com/office/powerpoint/2010/main" val="3093280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B1F6B5-82FD-5A43-AA2F-B215362424A2}" type="slidenum">
              <a:rPr lang="en-US" smtClean="0"/>
              <a:t>1</a:t>
            </a:fld>
            <a:endParaRPr lang="en-US"/>
          </a:p>
        </p:txBody>
      </p:sp>
    </p:spTree>
    <p:extLst>
      <p:ext uri="{BB962C8B-B14F-4D97-AF65-F5344CB8AC3E}">
        <p14:creationId xmlns:p14="http://schemas.microsoft.com/office/powerpoint/2010/main" val="40124120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class is all about expanding your tool chest. It is about giving you the understanding and language to apply when you go to solve a problem.</a:t>
            </a:r>
          </a:p>
        </p:txBody>
      </p:sp>
      <p:sp>
        <p:nvSpPr>
          <p:cNvPr id="4" name="Slide Number Placeholder 3"/>
          <p:cNvSpPr>
            <a:spLocks noGrp="1"/>
          </p:cNvSpPr>
          <p:nvPr>
            <p:ph type="sldNum" sz="quarter" idx="5"/>
          </p:nvPr>
        </p:nvSpPr>
        <p:spPr/>
        <p:txBody>
          <a:bodyPr/>
          <a:lstStyle/>
          <a:p>
            <a:fld id="{82B1F6B5-82FD-5A43-AA2F-B215362424A2}" type="slidenum">
              <a:rPr lang="en-US" smtClean="0"/>
              <a:t>15</a:t>
            </a:fld>
            <a:endParaRPr lang="en-US"/>
          </a:p>
        </p:txBody>
      </p:sp>
    </p:spTree>
    <p:extLst>
      <p:ext uri="{BB962C8B-B14F-4D97-AF65-F5344CB8AC3E}">
        <p14:creationId xmlns:p14="http://schemas.microsoft.com/office/powerpoint/2010/main" val="786969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can enumerate all the possible ways </a:t>
            </a:r>
            <a:r>
              <a:rPr lang="en-US" dirty="0" err="1"/>
              <a:t>i</a:t>
            </a:r>
            <a:r>
              <a:rPr lang="en-US" dirty="0"/>
              <a:t> can do things, but that doesn't help me actually do it.</a:t>
            </a:r>
          </a:p>
        </p:txBody>
      </p:sp>
      <p:sp>
        <p:nvSpPr>
          <p:cNvPr id="4" name="Slide Number Placeholder 3"/>
          <p:cNvSpPr>
            <a:spLocks noGrp="1"/>
          </p:cNvSpPr>
          <p:nvPr>
            <p:ph type="sldNum" sz="quarter" idx="5"/>
          </p:nvPr>
        </p:nvSpPr>
        <p:spPr/>
        <p:txBody>
          <a:bodyPr/>
          <a:lstStyle/>
          <a:p>
            <a:fld id="{82B1F6B5-82FD-5A43-AA2F-B215362424A2}" type="slidenum">
              <a:rPr lang="en-US" smtClean="0"/>
              <a:t>17</a:t>
            </a:fld>
            <a:endParaRPr lang="en-US"/>
          </a:p>
        </p:txBody>
      </p:sp>
    </p:spTree>
    <p:extLst>
      <p:ext uri="{BB962C8B-B14F-4D97-AF65-F5344CB8AC3E}">
        <p14:creationId xmlns:p14="http://schemas.microsoft.com/office/powerpoint/2010/main" val="1012412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do anything, you need some sort of structure. if you're working with data, how are you storing it? </a:t>
            </a:r>
          </a:p>
        </p:txBody>
      </p:sp>
      <p:sp>
        <p:nvSpPr>
          <p:cNvPr id="4" name="Slide Number Placeholder 3"/>
          <p:cNvSpPr>
            <a:spLocks noGrp="1"/>
          </p:cNvSpPr>
          <p:nvPr>
            <p:ph type="sldNum" sz="quarter" idx="5"/>
          </p:nvPr>
        </p:nvSpPr>
        <p:spPr/>
        <p:txBody>
          <a:bodyPr/>
          <a:lstStyle/>
          <a:p>
            <a:fld id="{82B1F6B5-82FD-5A43-AA2F-B215362424A2}" type="slidenum">
              <a:rPr lang="en-US" smtClean="0"/>
              <a:t>19</a:t>
            </a:fld>
            <a:endParaRPr lang="en-US"/>
          </a:p>
        </p:txBody>
      </p:sp>
    </p:spTree>
    <p:extLst>
      <p:ext uri="{BB962C8B-B14F-4D97-AF65-F5344CB8AC3E}">
        <p14:creationId xmlns:p14="http://schemas.microsoft.com/office/powerpoint/2010/main" val="3255599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scheduling problem: </a:t>
            </a:r>
            <a:r>
              <a:rPr lang="en-US" dirty="0" err="1"/>
              <a:t>i</a:t>
            </a:r>
            <a:r>
              <a:rPr lang="en-US" dirty="0"/>
              <a:t> need a **priority queue**. Baked into my priority queue is my labeled data, saying this is p1, this is p2, etc. I want it so when I dequeue something from the queue, </a:t>
            </a:r>
            <a:r>
              <a:rPr lang="en-US" dirty="0" err="1"/>
              <a:t>i'll</a:t>
            </a:r>
            <a:r>
              <a:rPr lang="en-US" dirty="0"/>
              <a:t> have the thing </a:t>
            </a:r>
            <a:r>
              <a:rPr lang="en-US" dirty="0" err="1"/>
              <a:t>i</a:t>
            </a:r>
            <a:r>
              <a:rPr lang="en-US" dirty="0"/>
              <a:t> need to do next. </a:t>
            </a:r>
          </a:p>
        </p:txBody>
      </p:sp>
      <p:sp>
        <p:nvSpPr>
          <p:cNvPr id="4" name="Slide Number Placeholder 3"/>
          <p:cNvSpPr>
            <a:spLocks noGrp="1"/>
          </p:cNvSpPr>
          <p:nvPr>
            <p:ph type="sldNum" sz="quarter" idx="5"/>
          </p:nvPr>
        </p:nvSpPr>
        <p:spPr/>
        <p:txBody>
          <a:bodyPr/>
          <a:lstStyle/>
          <a:p>
            <a:fld id="{82B1F6B5-82FD-5A43-AA2F-B215362424A2}" type="slidenum">
              <a:rPr lang="en-US" smtClean="0"/>
              <a:t>20</a:t>
            </a:fld>
            <a:endParaRPr lang="en-US"/>
          </a:p>
        </p:txBody>
      </p:sp>
    </p:spTree>
    <p:extLst>
      <p:ext uri="{BB962C8B-B14F-4D97-AF65-F5344CB8AC3E}">
        <p14:creationId xmlns:p14="http://schemas.microsoft.com/office/powerpoint/2010/main" val="14187868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being said, there's lots of ways </a:t>
            </a:r>
            <a:r>
              <a:rPr lang="en-US" dirty="0" err="1"/>
              <a:t>i</a:t>
            </a:r>
            <a:r>
              <a:rPr lang="en-US" dirty="0"/>
              <a:t> could figure out what </a:t>
            </a:r>
            <a:r>
              <a:rPr lang="en-US" dirty="0" err="1"/>
              <a:t>i</a:t>
            </a:r>
            <a:r>
              <a:rPr lang="en-US" dirty="0"/>
              <a:t> need to dequeue next. show geeks4geeks pic https://</a:t>
            </a:r>
            <a:r>
              <a:rPr lang="en-US" dirty="0" err="1"/>
              <a:t>www.geeksforgeeks.org</a:t>
            </a:r>
            <a:r>
              <a:rPr lang="en-US" dirty="0"/>
              <a:t>/operating-systems/</a:t>
            </a:r>
            <a:r>
              <a:rPr lang="en-US" dirty="0" err="1"/>
              <a:t>cpu</a:t>
            </a:r>
            <a:r>
              <a:rPr lang="en-US" dirty="0"/>
              <a:t>-scheduling-in-operating-systems/</a:t>
            </a:r>
          </a:p>
        </p:txBody>
      </p:sp>
      <p:sp>
        <p:nvSpPr>
          <p:cNvPr id="4" name="Slide Number Placeholder 3"/>
          <p:cNvSpPr>
            <a:spLocks noGrp="1"/>
          </p:cNvSpPr>
          <p:nvPr>
            <p:ph type="sldNum" sz="quarter" idx="5"/>
          </p:nvPr>
        </p:nvSpPr>
        <p:spPr/>
        <p:txBody>
          <a:bodyPr/>
          <a:lstStyle/>
          <a:p>
            <a:fld id="{82B1F6B5-82FD-5A43-AA2F-B215362424A2}" type="slidenum">
              <a:rPr lang="en-US" smtClean="0"/>
              <a:t>21</a:t>
            </a:fld>
            <a:endParaRPr lang="en-US"/>
          </a:p>
        </p:txBody>
      </p:sp>
    </p:spTree>
    <p:extLst>
      <p:ext uri="{BB962C8B-B14F-4D97-AF65-F5344CB8AC3E}">
        <p14:creationId xmlns:p14="http://schemas.microsoft.com/office/powerpoint/2010/main" val="716938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brings me to my next point. </a:t>
            </a:r>
          </a:p>
        </p:txBody>
      </p:sp>
      <p:sp>
        <p:nvSpPr>
          <p:cNvPr id="4" name="Slide Number Placeholder 3"/>
          <p:cNvSpPr>
            <a:spLocks noGrp="1"/>
          </p:cNvSpPr>
          <p:nvPr>
            <p:ph type="sldNum" sz="quarter" idx="5"/>
          </p:nvPr>
        </p:nvSpPr>
        <p:spPr/>
        <p:txBody>
          <a:bodyPr/>
          <a:lstStyle/>
          <a:p>
            <a:fld id="{82B1F6B5-82FD-5A43-AA2F-B215362424A2}" type="slidenum">
              <a:rPr lang="en-US" smtClean="0"/>
              <a:t>22</a:t>
            </a:fld>
            <a:endParaRPr lang="en-US"/>
          </a:p>
        </p:txBody>
      </p:sp>
    </p:spTree>
    <p:extLst>
      <p:ext uri="{BB962C8B-B14F-4D97-AF65-F5344CB8AC3E}">
        <p14:creationId xmlns:p14="http://schemas.microsoft.com/office/powerpoint/2010/main" val="16000766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ordering of things to do may not be the same as what you choose to do. you may choose x first, then y, then z, while I would choose z then x then y. </a:t>
            </a:r>
          </a:p>
          <a:p>
            <a:endParaRPr lang="en-US" dirty="0"/>
          </a:p>
          <a:p>
            <a:r>
              <a:rPr lang="en-US" dirty="0"/>
              <a:t>That being said... remember that the solutions you design are not necessarily objective.</a:t>
            </a:r>
          </a:p>
          <a:p>
            <a:r>
              <a:rPr lang="en-US" dirty="0"/>
              <a:t>example: objective = x. subjective =y. </a:t>
            </a:r>
          </a:p>
          <a:p>
            <a:endParaRPr lang="en-US" dirty="0"/>
          </a:p>
        </p:txBody>
      </p:sp>
      <p:sp>
        <p:nvSpPr>
          <p:cNvPr id="4" name="Slide Number Placeholder 3"/>
          <p:cNvSpPr>
            <a:spLocks noGrp="1"/>
          </p:cNvSpPr>
          <p:nvPr>
            <p:ph type="sldNum" sz="quarter" idx="5"/>
          </p:nvPr>
        </p:nvSpPr>
        <p:spPr/>
        <p:txBody>
          <a:bodyPr/>
          <a:lstStyle/>
          <a:p>
            <a:fld id="{82B1F6B5-82FD-5A43-AA2F-B215362424A2}" type="slidenum">
              <a:rPr lang="en-US" smtClean="0"/>
              <a:t>23</a:t>
            </a:fld>
            <a:endParaRPr lang="en-US"/>
          </a:p>
        </p:txBody>
      </p:sp>
    </p:spTree>
    <p:extLst>
      <p:ext uri="{BB962C8B-B14F-4D97-AF65-F5344CB8AC3E}">
        <p14:creationId xmlns:p14="http://schemas.microsoft.com/office/powerpoint/2010/main" val="21385835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with scheduling, you bring assumptions to the table about how this structure works. You have biases about what is easy to compute, while others may have differing opinions.</a:t>
            </a:r>
          </a:p>
        </p:txBody>
      </p:sp>
      <p:sp>
        <p:nvSpPr>
          <p:cNvPr id="4" name="Slide Number Placeholder 3"/>
          <p:cNvSpPr>
            <a:spLocks noGrp="1"/>
          </p:cNvSpPr>
          <p:nvPr>
            <p:ph type="sldNum" sz="quarter" idx="5"/>
          </p:nvPr>
        </p:nvSpPr>
        <p:spPr/>
        <p:txBody>
          <a:bodyPr/>
          <a:lstStyle/>
          <a:p>
            <a:fld id="{82B1F6B5-82FD-5A43-AA2F-B215362424A2}" type="slidenum">
              <a:rPr lang="en-US" smtClean="0"/>
              <a:t>24</a:t>
            </a:fld>
            <a:endParaRPr lang="en-US"/>
          </a:p>
        </p:txBody>
      </p:sp>
    </p:spTree>
    <p:extLst>
      <p:ext uri="{BB962C8B-B14F-4D97-AF65-F5344CB8AC3E}">
        <p14:creationId xmlns:p14="http://schemas.microsoft.com/office/powerpoint/2010/main" val="3279140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 book I highly recommend, weapons of math </a:t>
            </a:r>
            <a:r>
              <a:rPr lang="en-US" dirty="0" err="1"/>
              <a:t>desctruction</a:t>
            </a:r>
            <a:r>
              <a:rPr lang="en-US" dirty="0"/>
              <a:t> (show title). There's a quote there, which says, </a:t>
            </a:r>
          </a:p>
          <a:p>
            <a:endParaRPr lang="en-US" dirty="0"/>
          </a:p>
          <a:p>
            <a:r>
              <a:rPr lang="en-US" dirty="0"/>
              <a:t>(big text)</a:t>
            </a:r>
          </a:p>
          <a:p>
            <a:r>
              <a:rPr lang="en-US" dirty="0"/>
              <a:t>An algorithm is an opinion formalized in code.</a:t>
            </a:r>
          </a:p>
          <a:p>
            <a:endParaRPr lang="en-US" dirty="0"/>
          </a:p>
          <a:p>
            <a:r>
              <a:rPr lang="en-US" dirty="0"/>
              <a:t>these tools you use, the decisions you make in choosing which tools to use and how you use them, they're *your* decisions. </a:t>
            </a:r>
          </a:p>
        </p:txBody>
      </p:sp>
      <p:sp>
        <p:nvSpPr>
          <p:cNvPr id="4" name="Slide Number Placeholder 3"/>
          <p:cNvSpPr>
            <a:spLocks noGrp="1"/>
          </p:cNvSpPr>
          <p:nvPr>
            <p:ph type="sldNum" sz="quarter" idx="5"/>
          </p:nvPr>
        </p:nvSpPr>
        <p:spPr/>
        <p:txBody>
          <a:bodyPr/>
          <a:lstStyle/>
          <a:p>
            <a:fld id="{82B1F6B5-82FD-5A43-AA2F-B215362424A2}" type="slidenum">
              <a:rPr lang="en-US" smtClean="0"/>
              <a:t>25</a:t>
            </a:fld>
            <a:endParaRPr lang="en-US"/>
          </a:p>
        </p:txBody>
      </p:sp>
    </p:spTree>
    <p:extLst>
      <p:ext uri="{BB962C8B-B14F-4D97-AF65-F5344CB8AC3E}">
        <p14:creationId xmlns:p14="http://schemas.microsoft.com/office/powerpoint/2010/main" val="3566937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brings me to my next point: How will you be evaluated in this class?</a:t>
            </a:r>
          </a:p>
          <a:p>
            <a:endParaRPr lang="en-US" dirty="0"/>
          </a:p>
          <a:p>
            <a:r>
              <a:rPr lang="en-US" dirty="0"/>
              <a:t>There are few wrong answers in this class.</a:t>
            </a:r>
          </a:p>
          <a:p>
            <a:r>
              <a:rPr lang="en-US" dirty="0"/>
              <a:t>...there are simply less good answers.</a:t>
            </a:r>
          </a:p>
          <a:p>
            <a:endParaRPr lang="en-US" dirty="0"/>
          </a:p>
          <a:p>
            <a:r>
              <a:rPr lang="en-US" dirty="0"/>
              <a:t>In solving my scheduling problem, I may have chosen to put it into a </a:t>
            </a:r>
            <a:r>
              <a:rPr lang="en-US" dirty="0" err="1"/>
              <a:t>hashmap</a:t>
            </a:r>
            <a:r>
              <a:rPr lang="en-US" dirty="0"/>
              <a:t>, where the priority is the key. Then I choose </a:t>
            </a:r>
            <a:r>
              <a:rPr lang="en-US" dirty="0" err="1"/>
              <a:t>blaahblahblah</a:t>
            </a:r>
            <a:r>
              <a:rPr lang="en-US" dirty="0"/>
              <a:t>.</a:t>
            </a:r>
          </a:p>
        </p:txBody>
      </p:sp>
      <p:sp>
        <p:nvSpPr>
          <p:cNvPr id="4" name="Slide Number Placeholder 3"/>
          <p:cNvSpPr>
            <a:spLocks noGrp="1"/>
          </p:cNvSpPr>
          <p:nvPr>
            <p:ph type="sldNum" sz="quarter" idx="5"/>
          </p:nvPr>
        </p:nvSpPr>
        <p:spPr/>
        <p:txBody>
          <a:bodyPr/>
          <a:lstStyle/>
          <a:p>
            <a:fld id="{82B1F6B5-82FD-5A43-AA2F-B215362424A2}" type="slidenum">
              <a:rPr lang="en-US" smtClean="0"/>
              <a:t>26</a:t>
            </a:fld>
            <a:endParaRPr lang="en-US"/>
          </a:p>
        </p:txBody>
      </p:sp>
    </p:spTree>
    <p:extLst>
      <p:ext uri="{BB962C8B-B14F-4D97-AF65-F5344CB8AC3E}">
        <p14:creationId xmlns:p14="http://schemas.microsoft.com/office/powerpoint/2010/main" val="1112711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**Specificity** is a key thing to work on. In solving an algorithmic problem, what has been stated to be important? What could be inferred to be important? what has not been explicitly stated but critically affects a good solution to the problem?</a:t>
            </a:r>
          </a:p>
          <a:p>
            <a:endParaRPr lang="en-US" dirty="0"/>
          </a:p>
          <a:p>
            <a:r>
              <a:rPr lang="en-US" dirty="0"/>
              <a:t>This class has broad questions. </a:t>
            </a:r>
          </a:p>
          <a:p>
            <a:r>
              <a:rPr lang="en-US" dirty="0"/>
              <a:t>But your solutions must be specific. You must read between the lines to answer the questions and solve problems. You must investigate. You must be close readers. You must use your brain. </a:t>
            </a:r>
          </a:p>
        </p:txBody>
      </p:sp>
      <p:sp>
        <p:nvSpPr>
          <p:cNvPr id="4" name="Slide Number Placeholder 3"/>
          <p:cNvSpPr>
            <a:spLocks noGrp="1"/>
          </p:cNvSpPr>
          <p:nvPr>
            <p:ph type="sldNum" sz="quarter" idx="5"/>
          </p:nvPr>
        </p:nvSpPr>
        <p:spPr/>
        <p:txBody>
          <a:bodyPr/>
          <a:lstStyle/>
          <a:p>
            <a:fld id="{82B1F6B5-82FD-5A43-AA2F-B215362424A2}" type="slidenum">
              <a:rPr lang="en-US" smtClean="0"/>
              <a:t>27</a:t>
            </a:fld>
            <a:endParaRPr lang="en-US"/>
          </a:p>
        </p:txBody>
      </p:sp>
    </p:spTree>
    <p:extLst>
      <p:ext uri="{BB962C8B-B14F-4D97-AF65-F5344CB8AC3E}">
        <p14:creationId xmlns:p14="http://schemas.microsoft.com/office/powerpoint/2010/main" val="32465985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saw this at the end of 222, and you will see it again here:</a:t>
            </a:r>
          </a:p>
          <a:p>
            <a:endParaRPr lang="en-US" dirty="0"/>
          </a:p>
        </p:txBody>
      </p:sp>
      <p:sp>
        <p:nvSpPr>
          <p:cNvPr id="4" name="Slide Number Placeholder 3"/>
          <p:cNvSpPr>
            <a:spLocks noGrp="1"/>
          </p:cNvSpPr>
          <p:nvPr>
            <p:ph type="sldNum" sz="quarter" idx="5"/>
          </p:nvPr>
        </p:nvSpPr>
        <p:spPr/>
        <p:txBody>
          <a:bodyPr/>
          <a:lstStyle/>
          <a:p>
            <a:fld id="{82B1F6B5-82FD-5A43-AA2F-B215362424A2}" type="slidenum">
              <a:rPr lang="en-US" smtClean="0"/>
              <a:t>31</a:t>
            </a:fld>
            <a:endParaRPr lang="en-US"/>
          </a:p>
        </p:txBody>
      </p:sp>
    </p:spTree>
    <p:extLst>
      <p:ext uri="{BB962C8B-B14F-4D97-AF65-F5344CB8AC3E}">
        <p14:creationId xmlns:p14="http://schemas.microsoft.com/office/powerpoint/2010/main" val="24648665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measures for algorithm and data structure efficiency. That is our measure, the way we choose to say what is good or bad. </a:t>
            </a:r>
          </a:p>
        </p:txBody>
      </p:sp>
      <p:sp>
        <p:nvSpPr>
          <p:cNvPr id="4" name="Slide Number Placeholder 3"/>
          <p:cNvSpPr>
            <a:spLocks noGrp="1"/>
          </p:cNvSpPr>
          <p:nvPr>
            <p:ph type="sldNum" sz="quarter" idx="5"/>
          </p:nvPr>
        </p:nvSpPr>
        <p:spPr/>
        <p:txBody>
          <a:bodyPr/>
          <a:lstStyle/>
          <a:p>
            <a:fld id="{82B1F6B5-82FD-5A43-AA2F-B215362424A2}" type="slidenum">
              <a:rPr lang="en-US" smtClean="0"/>
              <a:t>32</a:t>
            </a:fld>
            <a:endParaRPr lang="en-US"/>
          </a:p>
        </p:txBody>
      </p:sp>
    </p:spTree>
    <p:extLst>
      <p:ext uri="{BB962C8B-B14F-4D97-AF65-F5344CB8AC3E}">
        <p14:creationId xmlns:p14="http://schemas.microsoft.com/office/powerpoint/2010/main" val="26501087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you give a solution that is, in the long term, worse off than one your neighbor gives. If both of these algorithms are correct, your neighbor would get most of the points, while you get less points. Even if it accomplishes the goal, your answer is not wrong. It's just not as good as it could have been. </a:t>
            </a:r>
          </a:p>
        </p:txBody>
      </p:sp>
      <p:sp>
        <p:nvSpPr>
          <p:cNvPr id="4" name="Slide Number Placeholder 3"/>
          <p:cNvSpPr>
            <a:spLocks noGrp="1"/>
          </p:cNvSpPr>
          <p:nvPr>
            <p:ph type="sldNum" sz="quarter" idx="5"/>
          </p:nvPr>
        </p:nvSpPr>
        <p:spPr/>
        <p:txBody>
          <a:bodyPr/>
          <a:lstStyle/>
          <a:p>
            <a:fld id="{82B1F6B5-82FD-5A43-AA2F-B215362424A2}" type="slidenum">
              <a:rPr lang="en-US" smtClean="0"/>
              <a:t>33</a:t>
            </a:fld>
            <a:endParaRPr lang="en-US"/>
          </a:p>
        </p:txBody>
      </p:sp>
    </p:spTree>
    <p:extLst>
      <p:ext uri="{BB962C8B-B14F-4D97-AF65-F5344CB8AC3E}">
        <p14:creationId xmlns:p14="http://schemas.microsoft.com/office/powerpoint/2010/main" val="25711450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warn you ahead of time: </a:t>
            </a:r>
          </a:p>
          <a:p>
            <a:r>
              <a:rPr lang="en-US" dirty="0"/>
              <a:t>Your answers must be correct and </a:t>
            </a:r>
            <a:r>
              <a:rPr lang="en-US" dirty="0" err="1"/>
              <a:t>thezy</a:t>
            </a:r>
            <a:r>
              <a:rPr lang="en-US" dirty="0"/>
              <a:t> must be efficient. z</a:t>
            </a:r>
          </a:p>
          <a:p>
            <a:endParaRPr lang="en-US" dirty="0"/>
          </a:p>
          <a:p>
            <a:endParaRPr lang="en-US" dirty="0"/>
          </a:p>
          <a:p>
            <a:r>
              <a:rPr lang="en-US" dirty="0"/>
              <a:t>if you present a solution that is different from intended, but gets the job done adequately, in the targeted efficiency range, you'll get most of the points. </a:t>
            </a:r>
          </a:p>
          <a:p>
            <a:endParaRPr lang="en-US" dirty="0"/>
          </a:p>
        </p:txBody>
      </p:sp>
      <p:sp>
        <p:nvSpPr>
          <p:cNvPr id="4" name="Slide Number Placeholder 3"/>
          <p:cNvSpPr>
            <a:spLocks noGrp="1"/>
          </p:cNvSpPr>
          <p:nvPr>
            <p:ph type="sldNum" sz="quarter" idx="5"/>
          </p:nvPr>
        </p:nvSpPr>
        <p:spPr/>
        <p:txBody>
          <a:bodyPr/>
          <a:lstStyle/>
          <a:p>
            <a:fld id="{82B1F6B5-82FD-5A43-AA2F-B215362424A2}" type="slidenum">
              <a:rPr lang="en-US" smtClean="0"/>
              <a:t>34</a:t>
            </a:fld>
            <a:endParaRPr lang="en-US"/>
          </a:p>
        </p:txBody>
      </p:sp>
    </p:spTree>
    <p:extLst>
      <p:ext uri="{BB962C8B-B14F-4D97-AF65-F5344CB8AC3E}">
        <p14:creationId xmlns:p14="http://schemas.microsoft.com/office/powerpoint/2010/main" val="34328387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(quite) a class on how to write. It is a crucible, a way for you to practice writing and presenting your code, and your algorithms in general.</a:t>
            </a:r>
          </a:p>
        </p:txBody>
      </p:sp>
      <p:sp>
        <p:nvSpPr>
          <p:cNvPr id="4" name="Slide Number Placeholder 3"/>
          <p:cNvSpPr>
            <a:spLocks noGrp="1"/>
          </p:cNvSpPr>
          <p:nvPr>
            <p:ph type="sldNum" sz="quarter" idx="5"/>
          </p:nvPr>
        </p:nvSpPr>
        <p:spPr/>
        <p:txBody>
          <a:bodyPr/>
          <a:lstStyle/>
          <a:p>
            <a:fld id="{82B1F6B5-82FD-5A43-AA2F-B215362424A2}" type="slidenum">
              <a:rPr lang="en-US" smtClean="0"/>
              <a:t>36</a:t>
            </a:fld>
            <a:endParaRPr lang="en-US"/>
          </a:p>
        </p:txBody>
      </p:sp>
    </p:spTree>
    <p:extLst>
      <p:ext uri="{BB962C8B-B14F-4D97-AF65-F5344CB8AC3E}">
        <p14:creationId xmlns:p14="http://schemas.microsoft.com/office/powerpoint/2010/main" val="7066020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just coding:</a:t>
            </a:r>
          </a:p>
          <a:p>
            <a:r>
              <a:rPr lang="en-US" dirty="0"/>
              <a:t>The goal of this class is for you to understand the workings of algorithms. Yes, it's important to know how to implement things. But in industry and elsewhere, it's not _just_ about the code you write. It's also about your ability to explain it to peers, managers, and people with no prior knowledge. </a:t>
            </a:r>
          </a:p>
          <a:p>
            <a:endParaRPr lang="en-US" dirty="0"/>
          </a:p>
          <a:p>
            <a:r>
              <a:rPr lang="en-US" dirty="0"/>
              <a:t>If you do coding interviews, they'll want to know that you can succinctly explain things. It's also a practice in figuring out what information to include, and what information to not include for the sake of clarity. These are important skills I hope you develop this semester.</a:t>
            </a:r>
          </a:p>
          <a:p>
            <a:endParaRPr lang="en-US" dirty="0"/>
          </a:p>
        </p:txBody>
      </p:sp>
      <p:sp>
        <p:nvSpPr>
          <p:cNvPr id="4" name="Slide Number Placeholder 3"/>
          <p:cNvSpPr>
            <a:spLocks noGrp="1"/>
          </p:cNvSpPr>
          <p:nvPr>
            <p:ph type="sldNum" sz="quarter" idx="5"/>
          </p:nvPr>
        </p:nvSpPr>
        <p:spPr/>
        <p:txBody>
          <a:bodyPr/>
          <a:lstStyle/>
          <a:p>
            <a:fld id="{82B1F6B5-82FD-5A43-AA2F-B215362424A2}" type="slidenum">
              <a:rPr lang="en-US" smtClean="0"/>
              <a:t>37</a:t>
            </a:fld>
            <a:endParaRPr lang="en-US"/>
          </a:p>
        </p:txBody>
      </p:sp>
    </p:spTree>
    <p:extLst>
      <p:ext uri="{BB962C8B-B14F-4D97-AF65-F5344CB8AC3E}">
        <p14:creationId xmlns:p14="http://schemas.microsoft.com/office/powerpoint/2010/main" val="41896496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especially in computer science, is about stretching yourself to do things you are unfamiliar with. It sucks, but it's really really important.</a:t>
            </a:r>
          </a:p>
        </p:txBody>
      </p:sp>
      <p:sp>
        <p:nvSpPr>
          <p:cNvPr id="4" name="Slide Number Placeholder 3"/>
          <p:cNvSpPr>
            <a:spLocks noGrp="1"/>
          </p:cNvSpPr>
          <p:nvPr>
            <p:ph type="sldNum" sz="quarter" idx="5"/>
          </p:nvPr>
        </p:nvSpPr>
        <p:spPr/>
        <p:txBody>
          <a:bodyPr/>
          <a:lstStyle/>
          <a:p>
            <a:fld id="{82B1F6B5-82FD-5A43-AA2F-B215362424A2}" type="slidenum">
              <a:rPr lang="en-US" smtClean="0"/>
              <a:t>38</a:t>
            </a:fld>
            <a:endParaRPr lang="en-US"/>
          </a:p>
        </p:txBody>
      </p:sp>
    </p:spTree>
    <p:extLst>
      <p:ext uri="{BB962C8B-B14F-4D97-AF65-F5344CB8AC3E}">
        <p14:creationId xmlns:p14="http://schemas.microsoft.com/office/powerpoint/2010/main" val="22018881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component of having a "good" answer is the stuff we talked about previously: the technical components of the algorithm. But next up is explaining it to people: presenting a clear, solid answer. Communication.</a:t>
            </a:r>
          </a:p>
        </p:txBody>
      </p:sp>
      <p:sp>
        <p:nvSpPr>
          <p:cNvPr id="4" name="Slide Number Placeholder 3"/>
          <p:cNvSpPr>
            <a:spLocks noGrp="1"/>
          </p:cNvSpPr>
          <p:nvPr>
            <p:ph type="sldNum" sz="quarter" idx="5"/>
          </p:nvPr>
        </p:nvSpPr>
        <p:spPr/>
        <p:txBody>
          <a:bodyPr/>
          <a:lstStyle/>
          <a:p>
            <a:fld id="{82B1F6B5-82FD-5A43-AA2F-B215362424A2}" type="slidenum">
              <a:rPr lang="en-US" smtClean="0"/>
              <a:t>39</a:t>
            </a:fld>
            <a:endParaRPr lang="en-US"/>
          </a:p>
        </p:txBody>
      </p:sp>
    </p:spTree>
    <p:extLst>
      <p:ext uri="{BB962C8B-B14F-4D97-AF65-F5344CB8AC3E}">
        <p14:creationId xmlns:p14="http://schemas.microsoft.com/office/powerpoint/2010/main" val="1512815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35D9F-6253-38D7-B74D-D77876C0EF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F1E702-4502-6ADD-9814-373E2E93DA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A93822-2B09-31A3-254F-9DB5EA91AF9B}"/>
              </a:ext>
            </a:extLst>
          </p:cNvPr>
          <p:cNvSpPr>
            <a:spLocks noGrp="1"/>
          </p:cNvSpPr>
          <p:nvPr>
            <p:ph type="dt" sz="half" idx="10"/>
          </p:nvPr>
        </p:nvSpPr>
        <p:spPr/>
        <p:txBody>
          <a:bodyPr/>
          <a:lstStyle/>
          <a:p>
            <a:fld id="{BD12C58D-3FBF-934D-9879-15B38C8D1416}" type="datetimeFigureOut">
              <a:rPr lang="en-US" smtClean="0"/>
              <a:t>2/2/26</a:t>
            </a:fld>
            <a:endParaRPr lang="en-US"/>
          </a:p>
        </p:txBody>
      </p:sp>
      <p:sp>
        <p:nvSpPr>
          <p:cNvPr id="5" name="Footer Placeholder 4">
            <a:extLst>
              <a:ext uri="{FF2B5EF4-FFF2-40B4-BE49-F238E27FC236}">
                <a16:creationId xmlns:a16="http://schemas.microsoft.com/office/drawing/2014/main" id="{F2E53593-EB61-C422-717C-BA0FBE4654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4249A9-AA82-7B81-6266-65EAE2E1FB16}"/>
              </a:ext>
            </a:extLst>
          </p:cNvPr>
          <p:cNvSpPr>
            <a:spLocks noGrp="1"/>
          </p:cNvSpPr>
          <p:nvPr>
            <p:ph type="sldNum" sz="quarter" idx="12"/>
          </p:nvPr>
        </p:nvSpPr>
        <p:spPr/>
        <p:txBody>
          <a:bodyPr/>
          <a:lstStyle/>
          <a:p>
            <a:fld id="{E683BE13-84A9-644A-8CDD-BFAF24104719}" type="slidenum">
              <a:rPr lang="en-US" smtClean="0"/>
              <a:t>‹#›</a:t>
            </a:fld>
            <a:endParaRPr lang="en-US"/>
          </a:p>
        </p:txBody>
      </p:sp>
    </p:spTree>
    <p:extLst>
      <p:ext uri="{BB962C8B-B14F-4D97-AF65-F5344CB8AC3E}">
        <p14:creationId xmlns:p14="http://schemas.microsoft.com/office/powerpoint/2010/main" val="653005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F5444-EE06-384E-A678-9C0F8176A9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B4111A-05A9-58A9-3380-762783B41E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AC8CAA-A3FE-1B0F-9789-4C262B948263}"/>
              </a:ext>
            </a:extLst>
          </p:cNvPr>
          <p:cNvSpPr>
            <a:spLocks noGrp="1"/>
          </p:cNvSpPr>
          <p:nvPr>
            <p:ph type="dt" sz="half" idx="10"/>
          </p:nvPr>
        </p:nvSpPr>
        <p:spPr/>
        <p:txBody>
          <a:bodyPr/>
          <a:lstStyle/>
          <a:p>
            <a:fld id="{BD12C58D-3FBF-934D-9879-15B38C8D1416}" type="datetimeFigureOut">
              <a:rPr lang="en-US" smtClean="0"/>
              <a:t>2/2/26</a:t>
            </a:fld>
            <a:endParaRPr lang="en-US"/>
          </a:p>
        </p:txBody>
      </p:sp>
      <p:sp>
        <p:nvSpPr>
          <p:cNvPr id="5" name="Footer Placeholder 4">
            <a:extLst>
              <a:ext uri="{FF2B5EF4-FFF2-40B4-BE49-F238E27FC236}">
                <a16:creationId xmlns:a16="http://schemas.microsoft.com/office/drawing/2014/main" id="{7D2E2CC7-FFB0-43DF-CA3E-9E95AAD42E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AC8984-28AE-9D61-61C2-C1692557A4C3}"/>
              </a:ext>
            </a:extLst>
          </p:cNvPr>
          <p:cNvSpPr>
            <a:spLocks noGrp="1"/>
          </p:cNvSpPr>
          <p:nvPr>
            <p:ph type="sldNum" sz="quarter" idx="12"/>
          </p:nvPr>
        </p:nvSpPr>
        <p:spPr/>
        <p:txBody>
          <a:bodyPr/>
          <a:lstStyle/>
          <a:p>
            <a:fld id="{E683BE13-84A9-644A-8CDD-BFAF24104719}" type="slidenum">
              <a:rPr lang="en-US" smtClean="0"/>
              <a:t>‹#›</a:t>
            </a:fld>
            <a:endParaRPr lang="en-US"/>
          </a:p>
        </p:txBody>
      </p:sp>
    </p:spTree>
    <p:extLst>
      <p:ext uri="{BB962C8B-B14F-4D97-AF65-F5344CB8AC3E}">
        <p14:creationId xmlns:p14="http://schemas.microsoft.com/office/powerpoint/2010/main" val="3145189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3C46C-D0FD-C4FE-407C-AB99BB3F4A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F769BC3-35C9-2B0C-1925-2B47E3C47D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451EA4-5D14-6579-56D2-D1B2FC59E745}"/>
              </a:ext>
            </a:extLst>
          </p:cNvPr>
          <p:cNvSpPr>
            <a:spLocks noGrp="1"/>
          </p:cNvSpPr>
          <p:nvPr>
            <p:ph type="dt" sz="half" idx="10"/>
          </p:nvPr>
        </p:nvSpPr>
        <p:spPr/>
        <p:txBody>
          <a:bodyPr/>
          <a:lstStyle/>
          <a:p>
            <a:fld id="{BD12C58D-3FBF-934D-9879-15B38C8D1416}" type="datetimeFigureOut">
              <a:rPr lang="en-US" smtClean="0"/>
              <a:t>2/2/26</a:t>
            </a:fld>
            <a:endParaRPr lang="en-US"/>
          </a:p>
        </p:txBody>
      </p:sp>
      <p:sp>
        <p:nvSpPr>
          <p:cNvPr id="5" name="Footer Placeholder 4">
            <a:extLst>
              <a:ext uri="{FF2B5EF4-FFF2-40B4-BE49-F238E27FC236}">
                <a16:creationId xmlns:a16="http://schemas.microsoft.com/office/drawing/2014/main" id="{028F8A85-7830-70B7-B0EA-09DF5839D6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5F4E06-7470-B7D0-55BA-1952B0C5F96D}"/>
              </a:ext>
            </a:extLst>
          </p:cNvPr>
          <p:cNvSpPr>
            <a:spLocks noGrp="1"/>
          </p:cNvSpPr>
          <p:nvPr>
            <p:ph type="sldNum" sz="quarter" idx="12"/>
          </p:nvPr>
        </p:nvSpPr>
        <p:spPr/>
        <p:txBody>
          <a:bodyPr/>
          <a:lstStyle/>
          <a:p>
            <a:fld id="{E683BE13-84A9-644A-8CDD-BFAF24104719}" type="slidenum">
              <a:rPr lang="en-US" smtClean="0"/>
              <a:t>‹#›</a:t>
            </a:fld>
            <a:endParaRPr lang="en-US"/>
          </a:p>
        </p:txBody>
      </p:sp>
    </p:spTree>
    <p:extLst>
      <p:ext uri="{BB962C8B-B14F-4D97-AF65-F5344CB8AC3E}">
        <p14:creationId xmlns:p14="http://schemas.microsoft.com/office/powerpoint/2010/main" val="1108781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9B317-291E-C1BD-C6B1-823E25B92F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62BF56-048D-A470-7276-56C8B28204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FFBD06-2471-D14B-1A52-1F9020791F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49AC45-B5D5-C52B-8E52-7E2EBB352C7F}"/>
              </a:ext>
            </a:extLst>
          </p:cNvPr>
          <p:cNvSpPr>
            <a:spLocks noGrp="1"/>
          </p:cNvSpPr>
          <p:nvPr>
            <p:ph type="dt" sz="half" idx="10"/>
          </p:nvPr>
        </p:nvSpPr>
        <p:spPr/>
        <p:txBody>
          <a:bodyPr/>
          <a:lstStyle/>
          <a:p>
            <a:fld id="{BD12C58D-3FBF-934D-9879-15B38C8D1416}" type="datetimeFigureOut">
              <a:rPr lang="en-US" smtClean="0"/>
              <a:t>2/2/26</a:t>
            </a:fld>
            <a:endParaRPr lang="en-US"/>
          </a:p>
        </p:txBody>
      </p:sp>
      <p:sp>
        <p:nvSpPr>
          <p:cNvPr id="6" name="Footer Placeholder 5">
            <a:extLst>
              <a:ext uri="{FF2B5EF4-FFF2-40B4-BE49-F238E27FC236}">
                <a16:creationId xmlns:a16="http://schemas.microsoft.com/office/drawing/2014/main" id="{FD226245-1863-DEDE-2D7F-75A3BB0303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BC8EDB-F89D-683A-7FF8-5821EA3F4F84}"/>
              </a:ext>
            </a:extLst>
          </p:cNvPr>
          <p:cNvSpPr>
            <a:spLocks noGrp="1"/>
          </p:cNvSpPr>
          <p:nvPr>
            <p:ph type="sldNum" sz="quarter" idx="12"/>
          </p:nvPr>
        </p:nvSpPr>
        <p:spPr/>
        <p:txBody>
          <a:bodyPr/>
          <a:lstStyle/>
          <a:p>
            <a:fld id="{E683BE13-84A9-644A-8CDD-BFAF24104719}" type="slidenum">
              <a:rPr lang="en-US" smtClean="0"/>
              <a:t>‹#›</a:t>
            </a:fld>
            <a:endParaRPr lang="en-US"/>
          </a:p>
        </p:txBody>
      </p:sp>
    </p:spTree>
    <p:extLst>
      <p:ext uri="{BB962C8B-B14F-4D97-AF65-F5344CB8AC3E}">
        <p14:creationId xmlns:p14="http://schemas.microsoft.com/office/powerpoint/2010/main" val="2831346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EF8F3-59AB-E743-B1CA-8054D4ADAC6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88B5DC-2479-FFE1-DBC0-FF7C03121A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1F962A-C9E4-8DFD-A33F-24387538BA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C57DBF-CADC-FA78-6BC0-96DF241D62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EE45D2-F539-3828-A9C2-DA52E2A801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DDE9811-030A-AE30-1370-BAE3D02CB6BB}"/>
              </a:ext>
            </a:extLst>
          </p:cNvPr>
          <p:cNvSpPr>
            <a:spLocks noGrp="1"/>
          </p:cNvSpPr>
          <p:nvPr>
            <p:ph type="dt" sz="half" idx="10"/>
          </p:nvPr>
        </p:nvSpPr>
        <p:spPr/>
        <p:txBody>
          <a:bodyPr/>
          <a:lstStyle/>
          <a:p>
            <a:fld id="{BD12C58D-3FBF-934D-9879-15B38C8D1416}" type="datetimeFigureOut">
              <a:rPr lang="en-US" smtClean="0"/>
              <a:t>2/2/26</a:t>
            </a:fld>
            <a:endParaRPr lang="en-US"/>
          </a:p>
        </p:txBody>
      </p:sp>
      <p:sp>
        <p:nvSpPr>
          <p:cNvPr id="8" name="Footer Placeholder 7">
            <a:extLst>
              <a:ext uri="{FF2B5EF4-FFF2-40B4-BE49-F238E27FC236}">
                <a16:creationId xmlns:a16="http://schemas.microsoft.com/office/drawing/2014/main" id="{D17CDA84-1082-70D1-0878-B234F71904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90B7EC-E9AB-2CEF-4773-2721B7C2C648}"/>
              </a:ext>
            </a:extLst>
          </p:cNvPr>
          <p:cNvSpPr>
            <a:spLocks noGrp="1"/>
          </p:cNvSpPr>
          <p:nvPr>
            <p:ph type="sldNum" sz="quarter" idx="12"/>
          </p:nvPr>
        </p:nvSpPr>
        <p:spPr/>
        <p:txBody>
          <a:bodyPr/>
          <a:lstStyle/>
          <a:p>
            <a:fld id="{E683BE13-84A9-644A-8CDD-BFAF24104719}" type="slidenum">
              <a:rPr lang="en-US" smtClean="0"/>
              <a:t>‹#›</a:t>
            </a:fld>
            <a:endParaRPr lang="en-US"/>
          </a:p>
        </p:txBody>
      </p:sp>
    </p:spTree>
    <p:extLst>
      <p:ext uri="{BB962C8B-B14F-4D97-AF65-F5344CB8AC3E}">
        <p14:creationId xmlns:p14="http://schemas.microsoft.com/office/powerpoint/2010/main" val="3785833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504DB-8798-BF25-4BB9-1260B961DB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EDB7766-D820-7D8C-6201-BAE35C0999AA}"/>
              </a:ext>
            </a:extLst>
          </p:cNvPr>
          <p:cNvSpPr>
            <a:spLocks noGrp="1"/>
          </p:cNvSpPr>
          <p:nvPr>
            <p:ph type="dt" sz="half" idx="10"/>
          </p:nvPr>
        </p:nvSpPr>
        <p:spPr/>
        <p:txBody>
          <a:bodyPr/>
          <a:lstStyle/>
          <a:p>
            <a:fld id="{BD12C58D-3FBF-934D-9879-15B38C8D1416}" type="datetimeFigureOut">
              <a:rPr lang="en-US" smtClean="0"/>
              <a:t>2/2/26</a:t>
            </a:fld>
            <a:endParaRPr lang="en-US"/>
          </a:p>
        </p:txBody>
      </p:sp>
      <p:sp>
        <p:nvSpPr>
          <p:cNvPr id="4" name="Footer Placeholder 3">
            <a:extLst>
              <a:ext uri="{FF2B5EF4-FFF2-40B4-BE49-F238E27FC236}">
                <a16:creationId xmlns:a16="http://schemas.microsoft.com/office/drawing/2014/main" id="{5A914D49-67B5-F93C-0DD5-28AD36B226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560C209-071B-C477-547E-D7943C9B3BCC}"/>
              </a:ext>
            </a:extLst>
          </p:cNvPr>
          <p:cNvSpPr>
            <a:spLocks noGrp="1"/>
          </p:cNvSpPr>
          <p:nvPr>
            <p:ph type="sldNum" sz="quarter" idx="12"/>
          </p:nvPr>
        </p:nvSpPr>
        <p:spPr/>
        <p:txBody>
          <a:bodyPr/>
          <a:lstStyle/>
          <a:p>
            <a:fld id="{E683BE13-84A9-644A-8CDD-BFAF24104719}" type="slidenum">
              <a:rPr lang="en-US" smtClean="0"/>
              <a:t>‹#›</a:t>
            </a:fld>
            <a:endParaRPr lang="en-US"/>
          </a:p>
        </p:txBody>
      </p:sp>
    </p:spTree>
    <p:extLst>
      <p:ext uri="{BB962C8B-B14F-4D97-AF65-F5344CB8AC3E}">
        <p14:creationId xmlns:p14="http://schemas.microsoft.com/office/powerpoint/2010/main" val="2224558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8B4CF6-39A1-C5BC-3FAD-A8504CB21E9D}"/>
              </a:ext>
            </a:extLst>
          </p:cNvPr>
          <p:cNvSpPr>
            <a:spLocks noGrp="1"/>
          </p:cNvSpPr>
          <p:nvPr>
            <p:ph type="dt" sz="half" idx="10"/>
          </p:nvPr>
        </p:nvSpPr>
        <p:spPr/>
        <p:txBody>
          <a:bodyPr/>
          <a:lstStyle/>
          <a:p>
            <a:fld id="{BD12C58D-3FBF-934D-9879-15B38C8D1416}" type="datetimeFigureOut">
              <a:rPr lang="en-US" smtClean="0"/>
              <a:t>2/2/26</a:t>
            </a:fld>
            <a:endParaRPr lang="en-US"/>
          </a:p>
        </p:txBody>
      </p:sp>
      <p:sp>
        <p:nvSpPr>
          <p:cNvPr id="3" name="Footer Placeholder 2">
            <a:extLst>
              <a:ext uri="{FF2B5EF4-FFF2-40B4-BE49-F238E27FC236}">
                <a16:creationId xmlns:a16="http://schemas.microsoft.com/office/drawing/2014/main" id="{9E96F467-ED79-1CAC-6B6B-49355F6E20B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D81F2A0-16EB-18C8-9FDB-2B799072B5DA}"/>
              </a:ext>
            </a:extLst>
          </p:cNvPr>
          <p:cNvSpPr>
            <a:spLocks noGrp="1"/>
          </p:cNvSpPr>
          <p:nvPr>
            <p:ph type="sldNum" sz="quarter" idx="12"/>
          </p:nvPr>
        </p:nvSpPr>
        <p:spPr/>
        <p:txBody>
          <a:bodyPr/>
          <a:lstStyle/>
          <a:p>
            <a:fld id="{E683BE13-84A9-644A-8CDD-BFAF24104719}" type="slidenum">
              <a:rPr lang="en-US" smtClean="0"/>
              <a:t>‹#›</a:t>
            </a:fld>
            <a:endParaRPr lang="en-US"/>
          </a:p>
        </p:txBody>
      </p:sp>
    </p:spTree>
    <p:extLst>
      <p:ext uri="{BB962C8B-B14F-4D97-AF65-F5344CB8AC3E}">
        <p14:creationId xmlns:p14="http://schemas.microsoft.com/office/powerpoint/2010/main" val="990924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1A2B1-FAEA-D68B-FB57-36837FFC4B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7EAEBBD-3A5B-C00F-AF9B-A40D756987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3A01446-4A3D-7AAA-7837-4A2F760377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F57E43-47DE-8B09-0F51-4D6E2E481165}"/>
              </a:ext>
            </a:extLst>
          </p:cNvPr>
          <p:cNvSpPr>
            <a:spLocks noGrp="1"/>
          </p:cNvSpPr>
          <p:nvPr>
            <p:ph type="dt" sz="half" idx="10"/>
          </p:nvPr>
        </p:nvSpPr>
        <p:spPr/>
        <p:txBody>
          <a:bodyPr/>
          <a:lstStyle/>
          <a:p>
            <a:fld id="{BD12C58D-3FBF-934D-9879-15B38C8D1416}" type="datetimeFigureOut">
              <a:rPr lang="en-US" smtClean="0"/>
              <a:t>2/2/26</a:t>
            </a:fld>
            <a:endParaRPr lang="en-US"/>
          </a:p>
        </p:txBody>
      </p:sp>
      <p:sp>
        <p:nvSpPr>
          <p:cNvPr id="6" name="Footer Placeholder 5">
            <a:extLst>
              <a:ext uri="{FF2B5EF4-FFF2-40B4-BE49-F238E27FC236}">
                <a16:creationId xmlns:a16="http://schemas.microsoft.com/office/drawing/2014/main" id="{39911B2C-5BA2-C973-B065-D033E80B72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FE79FE-9C9C-2989-79B3-5508CF740CEB}"/>
              </a:ext>
            </a:extLst>
          </p:cNvPr>
          <p:cNvSpPr>
            <a:spLocks noGrp="1"/>
          </p:cNvSpPr>
          <p:nvPr>
            <p:ph type="sldNum" sz="quarter" idx="12"/>
          </p:nvPr>
        </p:nvSpPr>
        <p:spPr/>
        <p:txBody>
          <a:bodyPr/>
          <a:lstStyle/>
          <a:p>
            <a:fld id="{E683BE13-84A9-644A-8CDD-BFAF24104719}" type="slidenum">
              <a:rPr lang="en-US" smtClean="0"/>
              <a:t>‹#›</a:t>
            </a:fld>
            <a:endParaRPr lang="en-US"/>
          </a:p>
        </p:txBody>
      </p:sp>
    </p:spTree>
    <p:extLst>
      <p:ext uri="{BB962C8B-B14F-4D97-AF65-F5344CB8AC3E}">
        <p14:creationId xmlns:p14="http://schemas.microsoft.com/office/powerpoint/2010/main" val="5761061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556FB-00F8-C8DA-E45D-D767BC96FA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E7CD1E8-6B8A-E73B-0988-55963A52B7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1F5F3D-DCF7-C37A-AEF8-0B36F7A09B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AE8B57-59D3-FADB-7DAF-225897B22247}"/>
              </a:ext>
            </a:extLst>
          </p:cNvPr>
          <p:cNvSpPr>
            <a:spLocks noGrp="1"/>
          </p:cNvSpPr>
          <p:nvPr>
            <p:ph type="dt" sz="half" idx="10"/>
          </p:nvPr>
        </p:nvSpPr>
        <p:spPr/>
        <p:txBody>
          <a:bodyPr/>
          <a:lstStyle/>
          <a:p>
            <a:fld id="{BD12C58D-3FBF-934D-9879-15B38C8D1416}" type="datetimeFigureOut">
              <a:rPr lang="en-US" smtClean="0"/>
              <a:t>2/2/26</a:t>
            </a:fld>
            <a:endParaRPr lang="en-US"/>
          </a:p>
        </p:txBody>
      </p:sp>
      <p:sp>
        <p:nvSpPr>
          <p:cNvPr id="6" name="Footer Placeholder 5">
            <a:extLst>
              <a:ext uri="{FF2B5EF4-FFF2-40B4-BE49-F238E27FC236}">
                <a16:creationId xmlns:a16="http://schemas.microsoft.com/office/drawing/2014/main" id="{D3229FF9-C39D-CDF6-EADC-31A12B3EED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251771-822F-74DE-D065-EFBCC360D757}"/>
              </a:ext>
            </a:extLst>
          </p:cNvPr>
          <p:cNvSpPr>
            <a:spLocks noGrp="1"/>
          </p:cNvSpPr>
          <p:nvPr>
            <p:ph type="sldNum" sz="quarter" idx="12"/>
          </p:nvPr>
        </p:nvSpPr>
        <p:spPr/>
        <p:txBody>
          <a:bodyPr/>
          <a:lstStyle/>
          <a:p>
            <a:fld id="{E683BE13-84A9-644A-8CDD-BFAF24104719}" type="slidenum">
              <a:rPr lang="en-US" smtClean="0"/>
              <a:t>‹#›</a:t>
            </a:fld>
            <a:endParaRPr lang="en-US"/>
          </a:p>
        </p:txBody>
      </p:sp>
    </p:spTree>
    <p:extLst>
      <p:ext uri="{BB962C8B-B14F-4D97-AF65-F5344CB8AC3E}">
        <p14:creationId xmlns:p14="http://schemas.microsoft.com/office/powerpoint/2010/main" val="3030940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170CC-3DB2-93AE-9CA7-6921DA7B0EC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52C095-E23A-AF39-74E5-DF2DE5FEC0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9B6206-BCA0-F4E2-046A-30C3315F863C}"/>
              </a:ext>
            </a:extLst>
          </p:cNvPr>
          <p:cNvSpPr>
            <a:spLocks noGrp="1"/>
          </p:cNvSpPr>
          <p:nvPr>
            <p:ph type="dt" sz="half" idx="10"/>
          </p:nvPr>
        </p:nvSpPr>
        <p:spPr/>
        <p:txBody>
          <a:bodyPr/>
          <a:lstStyle/>
          <a:p>
            <a:fld id="{BD12C58D-3FBF-934D-9879-15B38C8D1416}" type="datetimeFigureOut">
              <a:rPr lang="en-US" smtClean="0"/>
              <a:t>2/2/26</a:t>
            </a:fld>
            <a:endParaRPr lang="en-US"/>
          </a:p>
        </p:txBody>
      </p:sp>
      <p:sp>
        <p:nvSpPr>
          <p:cNvPr id="5" name="Footer Placeholder 4">
            <a:extLst>
              <a:ext uri="{FF2B5EF4-FFF2-40B4-BE49-F238E27FC236}">
                <a16:creationId xmlns:a16="http://schemas.microsoft.com/office/drawing/2014/main" id="{07930343-ADA5-BAA9-8495-33E2905B63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7089C8-DC5D-D972-6DDB-FADB3B85A062}"/>
              </a:ext>
            </a:extLst>
          </p:cNvPr>
          <p:cNvSpPr>
            <a:spLocks noGrp="1"/>
          </p:cNvSpPr>
          <p:nvPr>
            <p:ph type="sldNum" sz="quarter" idx="12"/>
          </p:nvPr>
        </p:nvSpPr>
        <p:spPr/>
        <p:txBody>
          <a:bodyPr/>
          <a:lstStyle/>
          <a:p>
            <a:fld id="{E683BE13-84A9-644A-8CDD-BFAF24104719}" type="slidenum">
              <a:rPr lang="en-US" smtClean="0"/>
              <a:t>‹#›</a:t>
            </a:fld>
            <a:endParaRPr lang="en-US"/>
          </a:p>
        </p:txBody>
      </p:sp>
    </p:spTree>
    <p:extLst>
      <p:ext uri="{BB962C8B-B14F-4D97-AF65-F5344CB8AC3E}">
        <p14:creationId xmlns:p14="http://schemas.microsoft.com/office/powerpoint/2010/main" val="3496241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30EB0E-7809-20B3-C409-D186FE51662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D2BC32-030B-8FA3-7E89-EA66C67612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40AEE7-AC67-394C-809E-ADFFC5CBFDA8}"/>
              </a:ext>
            </a:extLst>
          </p:cNvPr>
          <p:cNvSpPr>
            <a:spLocks noGrp="1"/>
          </p:cNvSpPr>
          <p:nvPr>
            <p:ph type="dt" sz="half" idx="10"/>
          </p:nvPr>
        </p:nvSpPr>
        <p:spPr/>
        <p:txBody>
          <a:bodyPr/>
          <a:lstStyle/>
          <a:p>
            <a:fld id="{BD12C58D-3FBF-934D-9879-15B38C8D1416}" type="datetimeFigureOut">
              <a:rPr lang="en-US" smtClean="0"/>
              <a:t>2/2/26</a:t>
            </a:fld>
            <a:endParaRPr lang="en-US"/>
          </a:p>
        </p:txBody>
      </p:sp>
      <p:sp>
        <p:nvSpPr>
          <p:cNvPr id="5" name="Footer Placeholder 4">
            <a:extLst>
              <a:ext uri="{FF2B5EF4-FFF2-40B4-BE49-F238E27FC236}">
                <a16:creationId xmlns:a16="http://schemas.microsoft.com/office/drawing/2014/main" id="{47D3C461-E79A-B100-E7D9-13701840EA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3AD83A-52FC-7102-6CD1-3E88EE06F4A9}"/>
              </a:ext>
            </a:extLst>
          </p:cNvPr>
          <p:cNvSpPr>
            <a:spLocks noGrp="1"/>
          </p:cNvSpPr>
          <p:nvPr>
            <p:ph type="sldNum" sz="quarter" idx="12"/>
          </p:nvPr>
        </p:nvSpPr>
        <p:spPr/>
        <p:txBody>
          <a:bodyPr/>
          <a:lstStyle/>
          <a:p>
            <a:fld id="{E683BE13-84A9-644A-8CDD-BFAF24104719}" type="slidenum">
              <a:rPr lang="en-US" smtClean="0"/>
              <a:t>‹#›</a:t>
            </a:fld>
            <a:endParaRPr lang="en-US"/>
          </a:p>
        </p:txBody>
      </p:sp>
    </p:spTree>
    <p:extLst>
      <p:ext uri="{BB962C8B-B14F-4D97-AF65-F5344CB8AC3E}">
        <p14:creationId xmlns:p14="http://schemas.microsoft.com/office/powerpoint/2010/main" val="1709857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1523ED-2E13-A102-5995-D83DFF655C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41DCDF5-9F8D-69E9-C025-2AC7B03F45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C5CADE-AD7F-FEED-EF89-1C115D18F2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D12C58D-3FBF-934D-9879-15B38C8D1416}" type="datetimeFigureOut">
              <a:rPr lang="en-US" smtClean="0"/>
              <a:t>2/2/26</a:t>
            </a:fld>
            <a:endParaRPr lang="en-US"/>
          </a:p>
        </p:txBody>
      </p:sp>
      <p:sp>
        <p:nvSpPr>
          <p:cNvPr id="5" name="Footer Placeholder 4">
            <a:extLst>
              <a:ext uri="{FF2B5EF4-FFF2-40B4-BE49-F238E27FC236}">
                <a16:creationId xmlns:a16="http://schemas.microsoft.com/office/drawing/2014/main" id="{FB1ED052-48CA-A017-A98E-17EDA4AA10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A8C7253-26A5-39CA-F056-3696BEB263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83BE13-84A9-644A-8CDD-BFAF24104719}" type="slidenum">
              <a:rPr lang="en-US" smtClean="0"/>
              <a:t>‹#›</a:t>
            </a:fld>
            <a:endParaRPr lang="en-US"/>
          </a:p>
        </p:txBody>
      </p:sp>
    </p:spTree>
    <p:extLst>
      <p:ext uri="{BB962C8B-B14F-4D97-AF65-F5344CB8AC3E}">
        <p14:creationId xmlns:p14="http://schemas.microsoft.com/office/powerpoint/2010/main" val="446975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B073F-14B9-841E-D658-BBE0A50C6070}"/>
              </a:ext>
            </a:extLst>
          </p:cNvPr>
          <p:cNvSpPr>
            <a:spLocks noGrp="1"/>
          </p:cNvSpPr>
          <p:nvPr>
            <p:ph type="ctrTitle"/>
          </p:nvPr>
        </p:nvSpPr>
        <p:spPr/>
        <p:txBody>
          <a:bodyPr/>
          <a:lstStyle/>
          <a:p>
            <a:r>
              <a:rPr lang="en-US" dirty="0"/>
              <a:t>CS 374 Syllabus</a:t>
            </a:r>
          </a:p>
        </p:txBody>
      </p:sp>
      <p:sp>
        <p:nvSpPr>
          <p:cNvPr id="3" name="Subtitle 2">
            <a:extLst>
              <a:ext uri="{FF2B5EF4-FFF2-40B4-BE49-F238E27FC236}">
                <a16:creationId xmlns:a16="http://schemas.microsoft.com/office/drawing/2014/main" id="{321916A8-C44F-3027-293A-0083C7B3B4E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71610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69B8C-5B3D-88FA-5E4D-6DD19BBE6F5B}"/>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12EE2891-8D3B-87D1-B23B-C45DE0042CBE}"/>
              </a:ext>
            </a:extLst>
          </p:cNvPr>
          <p:cNvSpPr>
            <a:spLocks noGrp="1"/>
          </p:cNvSpPr>
          <p:nvPr>
            <p:ph idx="1"/>
          </p:nvPr>
        </p:nvSpPr>
        <p:spPr/>
        <p:txBody>
          <a:bodyPr/>
          <a:lstStyle/>
          <a:p>
            <a:r>
              <a:rPr lang="en-US" dirty="0"/>
              <a:t>Course goals</a:t>
            </a:r>
          </a:p>
          <a:p>
            <a:r>
              <a:rPr lang="en-US" dirty="0"/>
              <a:t>Logistics</a:t>
            </a:r>
          </a:p>
          <a:p>
            <a:r>
              <a:rPr lang="en-US" dirty="0"/>
              <a:t>Teams</a:t>
            </a:r>
          </a:p>
          <a:p>
            <a:r>
              <a:rPr lang="en-US" dirty="0"/>
              <a:t>What's this class about? – Expanding your toolbox</a:t>
            </a:r>
          </a:p>
          <a:p>
            <a:r>
              <a:rPr lang="en-US" dirty="0"/>
              <a:t>Methods of evaluation</a:t>
            </a:r>
          </a:p>
          <a:p>
            <a:r>
              <a:rPr lang="en-US" dirty="0"/>
              <a:t>Types of assignments</a:t>
            </a:r>
          </a:p>
          <a:p>
            <a:r>
              <a:rPr lang="en-US" dirty="0"/>
              <a:t>What does success in CS 374 look like?</a:t>
            </a:r>
          </a:p>
        </p:txBody>
      </p:sp>
    </p:spTree>
    <p:extLst>
      <p:ext uri="{BB962C8B-B14F-4D97-AF65-F5344CB8AC3E}">
        <p14:creationId xmlns:p14="http://schemas.microsoft.com/office/powerpoint/2010/main" val="4078286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1D530-6643-846A-09B8-626C16BFBEDB}"/>
              </a:ext>
            </a:extLst>
          </p:cNvPr>
          <p:cNvSpPr>
            <a:spLocks noGrp="1"/>
          </p:cNvSpPr>
          <p:nvPr>
            <p:ph type="title"/>
          </p:nvPr>
        </p:nvSpPr>
        <p:spPr/>
        <p:txBody>
          <a:bodyPr/>
          <a:lstStyle/>
          <a:p>
            <a:r>
              <a:rPr lang="en-US" dirty="0"/>
              <a:t>Course Goals - Theoretical</a:t>
            </a:r>
          </a:p>
        </p:txBody>
      </p:sp>
      <p:sp>
        <p:nvSpPr>
          <p:cNvPr id="3" name="Content Placeholder 2">
            <a:extLst>
              <a:ext uri="{FF2B5EF4-FFF2-40B4-BE49-F238E27FC236}">
                <a16:creationId xmlns:a16="http://schemas.microsoft.com/office/drawing/2014/main" id="{DC048962-59FD-5F8A-5242-9B14E3ADE70E}"/>
              </a:ext>
            </a:extLst>
          </p:cNvPr>
          <p:cNvSpPr>
            <a:spLocks noGrp="1"/>
          </p:cNvSpPr>
          <p:nvPr>
            <p:ph idx="1"/>
          </p:nvPr>
        </p:nvSpPr>
        <p:spPr/>
        <p:txBody>
          <a:bodyPr>
            <a:normAutofit/>
          </a:bodyPr>
          <a:lstStyle/>
          <a:p>
            <a:r>
              <a:rPr lang="en-US" dirty="0"/>
              <a:t>Be able to write proofs about programs.</a:t>
            </a:r>
          </a:p>
          <a:p>
            <a:r>
              <a:rPr lang="en-US" dirty="0"/>
              <a:t>Be able to compare the </a:t>
            </a:r>
            <a:r>
              <a:rPr lang="en-US" dirty="0" err="1"/>
              <a:t>asymptotics</a:t>
            </a:r>
            <a:r>
              <a:rPr lang="en-US" dirty="0"/>
              <a:t> (Big-O, Big-Theta, Big-Omega, dominance relations) of standard functions, including polynomials, logarithms, exponentials, and the factorial function.</a:t>
            </a:r>
          </a:p>
          <a:p>
            <a:r>
              <a:rPr lang="en-US" dirty="0"/>
              <a:t>Be able to justify algorithm correctness and analysis formally by relating algorithms to their RAM models.</a:t>
            </a:r>
          </a:p>
          <a:p>
            <a:r>
              <a:rPr lang="en-US" dirty="0"/>
              <a:t>Be able to reason about concepts of tractability and intractability, like polynomial-time, polynomial-space, and NP-completeness.</a:t>
            </a:r>
          </a:p>
        </p:txBody>
      </p:sp>
    </p:spTree>
    <p:extLst>
      <p:ext uri="{BB962C8B-B14F-4D97-AF65-F5344CB8AC3E}">
        <p14:creationId xmlns:p14="http://schemas.microsoft.com/office/powerpoint/2010/main" val="1790375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340F6-3BF7-E158-FF25-1334BEBA551D}"/>
              </a:ext>
            </a:extLst>
          </p:cNvPr>
          <p:cNvSpPr>
            <a:spLocks noGrp="1"/>
          </p:cNvSpPr>
          <p:nvPr>
            <p:ph type="title"/>
          </p:nvPr>
        </p:nvSpPr>
        <p:spPr/>
        <p:txBody>
          <a:bodyPr/>
          <a:lstStyle/>
          <a:p>
            <a:r>
              <a:rPr lang="en-US" dirty="0"/>
              <a:t>Course Goals - Practical</a:t>
            </a:r>
          </a:p>
        </p:txBody>
      </p:sp>
      <p:sp>
        <p:nvSpPr>
          <p:cNvPr id="3" name="Content Placeholder 2">
            <a:extLst>
              <a:ext uri="{FF2B5EF4-FFF2-40B4-BE49-F238E27FC236}">
                <a16:creationId xmlns:a16="http://schemas.microsoft.com/office/drawing/2014/main" id="{08DEB7C8-56F6-25B7-4762-067AD76CB505}"/>
              </a:ext>
            </a:extLst>
          </p:cNvPr>
          <p:cNvSpPr>
            <a:spLocks noGrp="1"/>
          </p:cNvSpPr>
          <p:nvPr>
            <p:ph idx="1"/>
          </p:nvPr>
        </p:nvSpPr>
        <p:spPr>
          <a:xfrm>
            <a:off x="838200" y="1825625"/>
            <a:ext cx="10515600" cy="4311939"/>
          </a:xfrm>
        </p:spPr>
        <p:txBody>
          <a:bodyPr>
            <a:normAutofit/>
          </a:bodyPr>
          <a:lstStyle/>
          <a:p>
            <a:r>
              <a:rPr lang="en-US" sz="2400" dirty="0"/>
              <a:t>Be able to implement standard data structures and understand how they affect the efficiency of algorithms.</a:t>
            </a:r>
          </a:p>
          <a:p>
            <a:r>
              <a:rPr lang="en-US" sz="2400" dirty="0"/>
              <a:t>Be able to implement standard sorting algorithms and compare them for performance.</a:t>
            </a:r>
          </a:p>
          <a:p>
            <a:r>
              <a:rPr lang="en-US" sz="2400" dirty="0"/>
              <a:t>Be able to use graphs to solve algorithmic problems.</a:t>
            </a:r>
          </a:p>
          <a:p>
            <a:r>
              <a:rPr lang="en-US" sz="2400" dirty="0"/>
              <a:t>Know the use-cases, non-use-cases, and analysis techniques of greedy algorithm &amp; "Divide and conquer" algorithm design.</a:t>
            </a:r>
          </a:p>
          <a:p>
            <a:r>
              <a:rPr lang="en-US" sz="2400" dirty="0"/>
              <a:t>Be able to solve algorithmic problems and optimize algorithms using dynamic programming.</a:t>
            </a:r>
          </a:p>
          <a:p>
            <a:r>
              <a:rPr lang="en-US" sz="2400" dirty="0"/>
              <a:t>Be able to compare algorithm runtimes empirically.</a:t>
            </a:r>
          </a:p>
        </p:txBody>
      </p:sp>
    </p:spTree>
    <p:extLst>
      <p:ext uri="{BB962C8B-B14F-4D97-AF65-F5344CB8AC3E}">
        <p14:creationId xmlns:p14="http://schemas.microsoft.com/office/powerpoint/2010/main" val="1807576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564F8-CE8F-1E31-EDDA-171DE6A05B99}"/>
              </a:ext>
            </a:extLst>
          </p:cNvPr>
          <p:cNvSpPr>
            <a:spLocks noGrp="1"/>
          </p:cNvSpPr>
          <p:nvPr>
            <p:ph type="title"/>
          </p:nvPr>
        </p:nvSpPr>
        <p:spPr/>
        <p:txBody>
          <a:bodyPr/>
          <a:lstStyle/>
          <a:p>
            <a:r>
              <a:rPr lang="en-US" dirty="0"/>
              <a:t>The basics: where, when, how</a:t>
            </a:r>
          </a:p>
        </p:txBody>
      </p:sp>
      <p:sp>
        <p:nvSpPr>
          <p:cNvPr id="3" name="Content Placeholder 2">
            <a:extLst>
              <a:ext uri="{FF2B5EF4-FFF2-40B4-BE49-F238E27FC236}">
                <a16:creationId xmlns:a16="http://schemas.microsoft.com/office/drawing/2014/main" id="{05078AF4-7F5C-3960-E726-A7E0A8BEC72E}"/>
              </a:ext>
            </a:extLst>
          </p:cNvPr>
          <p:cNvSpPr>
            <a:spLocks noGrp="1"/>
          </p:cNvSpPr>
          <p:nvPr>
            <p:ph idx="1"/>
          </p:nvPr>
        </p:nvSpPr>
        <p:spPr/>
        <p:txBody>
          <a:bodyPr/>
          <a:lstStyle/>
          <a:p>
            <a:pPr marL="0" indent="0">
              <a:buNone/>
            </a:pPr>
            <a:r>
              <a:rPr lang="en-US" b="1" dirty="0"/>
              <a:t>Section -01:</a:t>
            </a:r>
          </a:p>
          <a:p>
            <a:r>
              <a:rPr lang="en-US" b="1" dirty="0"/>
              <a:t>Days</a:t>
            </a:r>
            <a:r>
              <a:rPr lang="en-US" dirty="0"/>
              <a:t>: Tuesdays &amp; Thursdays</a:t>
            </a:r>
          </a:p>
          <a:p>
            <a:r>
              <a:rPr lang="en-US" b="1" dirty="0"/>
              <a:t>Time</a:t>
            </a:r>
            <a:r>
              <a:rPr lang="en-US" dirty="0"/>
              <a:t>: 1:30-3:10 pm</a:t>
            </a:r>
          </a:p>
          <a:p>
            <a:r>
              <a:rPr lang="en-US" b="1" dirty="0"/>
              <a:t>Location</a:t>
            </a:r>
            <a:r>
              <a:rPr lang="en-US" dirty="0"/>
              <a:t>: Galileo 105</a:t>
            </a:r>
          </a:p>
          <a:p>
            <a:endParaRPr lang="en-US" dirty="0"/>
          </a:p>
          <a:p>
            <a:pPr marL="0" indent="0">
              <a:buNone/>
            </a:pPr>
            <a:r>
              <a:rPr lang="en-US" b="1" dirty="0"/>
              <a:t>Section -97:</a:t>
            </a:r>
          </a:p>
          <a:p>
            <a:r>
              <a:rPr lang="en-US" dirty="0"/>
              <a:t>Online, asynchronous with synchronous check-ins.</a:t>
            </a:r>
          </a:p>
        </p:txBody>
      </p:sp>
      <p:sp>
        <p:nvSpPr>
          <p:cNvPr id="4" name="Slide Number Placeholder 3">
            <a:extLst>
              <a:ext uri="{FF2B5EF4-FFF2-40B4-BE49-F238E27FC236}">
                <a16:creationId xmlns:a16="http://schemas.microsoft.com/office/drawing/2014/main" id="{92646485-3FB4-4C99-FE96-325E7E93FB15}"/>
              </a:ext>
            </a:extLst>
          </p:cNvPr>
          <p:cNvSpPr>
            <a:spLocks noGrp="1"/>
          </p:cNvSpPr>
          <p:nvPr>
            <p:ph type="sldNum" sz="quarter" idx="12"/>
          </p:nvPr>
        </p:nvSpPr>
        <p:spPr/>
        <p:txBody>
          <a:bodyPr/>
          <a:lstStyle/>
          <a:p>
            <a:fld id="{B55AA603-A114-204C-BF85-7F7DEF8FA73F}" type="slidenum">
              <a:rPr lang="en-US" smtClean="0"/>
              <a:t>5</a:t>
            </a:fld>
            <a:endParaRPr lang="en-US"/>
          </a:p>
        </p:txBody>
      </p:sp>
    </p:spTree>
    <p:extLst>
      <p:ext uri="{BB962C8B-B14F-4D97-AF65-F5344CB8AC3E}">
        <p14:creationId xmlns:p14="http://schemas.microsoft.com/office/powerpoint/2010/main" val="2705283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1C1E1-82E1-5968-9D24-E5C440285793}"/>
              </a:ext>
            </a:extLst>
          </p:cNvPr>
          <p:cNvSpPr>
            <a:spLocks noGrp="1"/>
          </p:cNvSpPr>
          <p:nvPr>
            <p:ph type="title"/>
          </p:nvPr>
        </p:nvSpPr>
        <p:spPr/>
        <p:txBody>
          <a:bodyPr/>
          <a:lstStyle/>
          <a:p>
            <a:r>
              <a:rPr lang="en-US" dirty="0"/>
              <a:t>Office Hours</a:t>
            </a:r>
          </a:p>
        </p:txBody>
      </p:sp>
      <p:sp>
        <p:nvSpPr>
          <p:cNvPr id="3" name="Content Placeholder 2">
            <a:extLst>
              <a:ext uri="{FF2B5EF4-FFF2-40B4-BE49-F238E27FC236}">
                <a16:creationId xmlns:a16="http://schemas.microsoft.com/office/drawing/2014/main" id="{674C6C9B-AE67-78D6-8110-F03D851E7AD9}"/>
              </a:ext>
            </a:extLst>
          </p:cNvPr>
          <p:cNvSpPr>
            <a:spLocks noGrp="1"/>
          </p:cNvSpPr>
          <p:nvPr>
            <p:ph idx="1"/>
          </p:nvPr>
        </p:nvSpPr>
        <p:spPr/>
        <p:txBody>
          <a:bodyPr>
            <a:normAutofit lnSpcReduction="10000"/>
          </a:bodyPr>
          <a:lstStyle/>
          <a:p>
            <a:r>
              <a:rPr lang="en-US" dirty="0"/>
              <a:t>I will be </a:t>
            </a:r>
            <a:r>
              <a:rPr lang="en-US" b="1" dirty="0"/>
              <a:t>in my office </a:t>
            </a:r>
            <a:r>
              <a:rPr lang="en-US" dirty="0"/>
              <a:t>ready to </a:t>
            </a:r>
            <a:r>
              <a:rPr lang="en-US" b="1" dirty="0"/>
              <a:t>answer questions </a:t>
            </a:r>
            <a:r>
              <a:rPr lang="en-US" dirty="0"/>
              <a:t>or </a:t>
            </a:r>
            <a:r>
              <a:rPr lang="en-US" b="1" dirty="0"/>
              <a:t>talk about anything</a:t>
            </a:r>
            <a:r>
              <a:rPr lang="en-US" dirty="0"/>
              <a:t>.</a:t>
            </a:r>
          </a:p>
          <a:p>
            <a:endParaRPr lang="en-US" dirty="0"/>
          </a:p>
          <a:p>
            <a:r>
              <a:rPr lang="en-US" b="1" dirty="0"/>
              <a:t>Tuesdays</a:t>
            </a:r>
            <a:r>
              <a:rPr lang="en-US" dirty="0"/>
              <a:t>: 10-11:30am</a:t>
            </a:r>
          </a:p>
          <a:p>
            <a:r>
              <a:rPr lang="en-US" b="1" dirty="0"/>
              <a:t>Wednesdays</a:t>
            </a:r>
            <a:r>
              <a:rPr lang="en-US" dirty="0"/>
              <a:t>: 11-12:30pm</a:t>
            </a:r>
          </a:p>
          <a:p>
            <a:r>
              <a:rPr lang="en-US" b="1" dirty="0"/>
              <a:t>Location: </a:t>
            </a:r>
            <a:r>
              <a:rPr lang="en-US" dirty="0"/>
              <a:t>Galileo 103A</a:t>
            </a:r>
          </a:p>
          <a:p>
            <a:r>
              <a:rPr lang="en-US" b="1" dirty="0"/>
              <a:t>I am available many other times</a:t>
            </a:r>
            <a:r>
              <a:rPr lang="en-US" dirty="0"/>
              <a:t>: </a:t>
            </a:r>
          </a:p>
          <a:p>
            <a:pPr lvl="1"/>
            <a:r>
              <a:rPr lang="en-US" dirty="0"/>
              <a:t>Find a time that works for you. </a:t>
            </a:r>
          </a:p>
          <a:p>
            <a:pPr lvl="1"/>
            <a:r>
              <a:rPr lang="en-US" dirty="0"/>
              <a:t>Zoom is an option, just let me know.</a:t>
            </a:r>
          </a:p>
          <a:p>
            <a:pPr lvl="1"/>
            <a:r>
              <a:rPr lang="en-US" dirty="0"/>
              <a:t>Show where the link is on Canvas.</a:t>
            </a:r>
          </a:p>
        </p:txBody>
      </p:sp>
    </p:spTree>
    <p:extLst>
      <p:ext uri="{BB962C8B-B14F-4D97-AF65-F5344CB8AC3E}">
        <p14:creationId xmlns:p14="http://schemas.microsoft.com/office/powerpoint/2010/main" val="3319006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54B5B-9207-9FFB-B94B-CF75D527B588}"/>
              </a:ext>
            </a:extLst>
          </p:cNvPr>
          <p:cNvSpPr>
            <a:spLocks noGrp="1"/>
          </p:cNvSpPr>
          <p:nvPr>
            <p:ph type="title"/>
          </p:nvPr>
        </p:nvSpPr>
        <p:spPr/>
        <p:txBody>
          <a:bodyPr/>
          <a:lstStyle/>
          <a:p>
            <a:r>
              <a:rPr lang="en-US" dirty="0"/>
              <a:t>The textbook</a:t>
            </a:r>
          </a:p>
        </p:txBody>
      </p:sp>
      <p:pic>
        <p:nvPicPr>
          <p:cNvPr id="6" name="Content Placeholder 5" descr="A close-up of a manual&#10;&#10;AI-generated content may be incorrect.">
            <a:extLst>
              <a:ext uri="{FF2B5EF4-FFF2-40B4-BE49-F238E27FC236}">
                <a16:creationId xmlns:a16="http://schemas.microsoft.com/office/drawing/2014/main" id="{00B83AA4-CAEC-7C31-5E14-44EF2E95DA93}"/>
              </a:ext>
            </a:extLst>
          </p:cNvPr>
          <p:cNvPicPr>
            <a:picLocks noGrp="1" noChangeAspect="1"/>
          </p:cNvPicPr>
          <p:nvPr>
            <p:ph idx="1"/>
          </p:nvPr>
        </p:nvPicPr>
        <p:blipFill>
          <a:blip r:embed="rId2"/>
          <a:stretch>
            <a:fillRect/>
          </a:stretch>
        </p:blipFill>
        <p:spPr>
          <a:xfrm>
            <a:off x="1052804" y="2374768"/>
            <a:ext cx="10086392" cy="2997371"/>
          </a:xfrm>
        </p:spPr>
      </p:pic>
      <p:sp>
        <p:nvSpPr>
          <p:cNvPr id="4" name="Slide Number Placeholder 3">
            <a:extLst>
              <a:ext uri="{FF2B5EF4-FFF2-40B4-BE49-F238E27FC236}">
                <a16:creationId xmlns:a16="http://schemas.microsoft.com/office/drawing/2014/main" id="{A68124EC-2BD4-FB88-91B1-CDA5A52B71C7}"/>
              </a:ext>
            </a:extLst>
          </p:cNvPr>
          <p:cNvSpPr>
            <a:spLocks noGrp="1"/>
          </p:cNvSpPr>
          <p:nvPr>
            <p:ph type="sldNum" sz="quarter" idx="12"/>
          </p:nvPr>
        </p:nvSpPr>
        <p:spPr/>
        <p:txBody>
          <a:bodyPr/>
          <a:lstStyle/>
          <a:p>
            <a:fld id="{B55AA603-A114-204C-BF85-7F7DEF8FA73F}" type="slidenum">
              <a:rPr lang="en-US" smtClean="0"/>
              <a:t>7</a:t>
            </a:fld>
            <a:endParaRPr lang="en-US"/>
          </a:p>
        </p:txBody>
      </p:sp>
    </p:spTree>
    <p:extLst>
      <p:ext uri="{BB962C8B-B14F-4D97-AF65-F5344CB8AC3E}">
        <p14:creationId xmlns:p14="http://schemas.microsoft.com/office/powerpoint/2010/main" val="4258519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DCD64-B97D-CCFD-E258-E3D3EB45108C}"/>
              </a:ext>
            </a:extLst>
          </p:cNvPr>
          <p:cNvSpPr>
            <a:spLocks noGrp="1"/>
          </p:cNvSpPr>
          <p:nvPr>
            <p:ph type="title"/>
          </p:nvPr>
        </p:nvSpPr>
        <p:spPr/>
        <p:txBody>
          <a:bodyPr/>
          <a:lstStyle/>
          <a:p>
            <a:r>
              <a:rPr lang="en-US" dirty="0"/>
              <a:t>Accessibility</a:t>
            </a:r>
          </a:p>
        </p:txBody>
      </p:sp>
      <p:sp>
        <p:nvSpPr>
          <p:cNvPr id="3" name="Content Placeholder 2">
            <a:extLst>
              <a:ext uri="{FF2B5EF4-FFF2-40B4-BE49-F238E27FC236}">
                <a16:creationId xmlns:a16="http://schemas.microsoft.com/office/drawing/2014/main" id="{B6B651AF-699A-9961-DA2B-9105ED2624FC}"/>
              </a:ext>
            </a:extLst>
          </p:cNvPr>
          <p:cNvSpPr>
            <a:spLocks noGrp="1"/>
          </p:cNvSpPr>
          <p:nvPr>
            <p:ph idx="1"/>
          </p:nvPr>
        </p:nvSpPr>
        <p:spPr/>
        <p:txBody>
          <a:bodyPr/>
          <a:lstStyle/>
          <a:p>
            <a:r>
              <a:rPr lang="en-US" dirty="0"/>
              <a:t>I am willing and happy to accommodate for accessibility needs.</a:t>
            </a:r>
          </a:p>
          <a:p>
            <a:r>
              <a:rPr lang="en-US" dirty="0"/>
              <a:t>Both officially from SDS and other reasonable accommodations.</a:t>
            </a:r>
          </a:p>
          <a:p>
            <a:endParaRPr lang="en-US" dirty="0"/>
          </a:p>
          <a:p>
            <a:r>
              <a:rPr lang="en-US" dirty="0"/>
              <a:t>Let me know as we go if anything comes up that needs adjusting.</a:t>
            </a:r>
          </a:p>
          <a:p>
            <a:r>
              <a:rPr lang="en-US" dirty="0"/>
              <a:t>If it seems like I've forgotten something, please remind me ASAP.</a:t>
            </a:r>
          </a:p>
          <a:p>
            <a:endParaRPr lang="en-US" dirty="0"/>
          </a:p>
          <a:p>
            <a:r>
              <a:rPr lang="en-US" dirty="0"/>
              <a:t>Lectures are recorded. [Show where the link is.]</a:t>
            </a:r>
          </a:p>
          <a:p>
            <a:r>
              <a:rPr lang="en-US" dirty="0"/>
              <a:t>I try to post things ahead of time, as best I can.</a:t>
            </a:r>
          </a:p>
        </p:txBody>
      </p:sp>
    </p:spTree>
    <p:extLst>
      <p:ext uri="{BB962C8B-B14F-4D97-AF65-F5344CB8AC3E}">
        <p14:creationId xmlns:p14="http://schemas.microsoft.com/office/powerpoint/2010/main" val="63644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57D27-54D9-5BDB-C5AC-DC4362B99F8C}"/>
              </a:ext>
            </a:extLst>
          </p:cNvPr>
          <p:cNvSpPr>
            <a:spLocks noGrp="1"/>
          </p:cNvSpPr>
          <p:nvPr>
            <p:ph type="title"/>
          </p:nvPr>
        </p:nvSpPr>
        <p:spPr/>
        <p:txBody>
          <a:bodyPr/>
          <a:lstStyle/>
          <a:p>
            <a:r>
              <a:rPr lang="en-US" dirty="0"/>
              <a:t>Teamwork Makes the Dream Work</a:t>
            </a:r>
          </a:p>
        </p:txBody>
      </p:sp>
      <p:sp>
        <p:nvSpPr>
          <p:cNvPr id="3" name="Text Placeholder 2">
            <a:extLst>
              <a:ext uri="{FF2B5EF4-FFF2-40B4-BE49-F238E27FC236}">
                <a16:creationId xmlns:a16="http://schemas.microsoft.com/office/drawing/2014/main" id="{1741A806-E340-EA77-699A-959DE7493FD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684903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F82A1B2-604F-4A04-9DCA-BCC841BE23EF}"/>
              </a:ext>
            </a:extLst>
          </p:cNvPr>
          <p:cNvSpPr>
            <a:spLocks noGrp="1"/>
          </p:cNvSpPr>
          <p:nvPr>
            <p:ph type="title"/>
          </p:nvPr>
        </p:nvSpPr>
        <p:spPr/>
        <p:txBody>
          <a:bodyPr/>
          <a:lstStyle/>
          <a:p>
            <a:r>
              <a:rPr lang="en-US" dirty="0"/>
              <a:t>Teams</a:t>
            </a:r>
          </a:p>
        </p:txBody>
      </p:sp>
      <p:sp>
        <p:nvSpPr>
          <p:cNvPr id="5" name="Content Placeholder 4">
            <a:extLst>
              <a:ext uri="{FF2B5EF4-FFF2-40B4-BE49-F238E27FC236}">
                <a16:creationId xmlns:a16="http://schemas.microsoft.com/office/drawing/2014/main" id="{A03A2D17-F62B-03F2-F8FE-7DC039C65592}"/>
              </a:ext>
            </a:extLst>
          </p:cNvPr>
          <p:cNvSpPr>
            <a:spLocks noGrp="1"/>
          </p:cNvSpPr>
          <p:nvPr>
            <p:ph idx="1"/>
          </p:nvPr>
        </p:nvSpPr>
        <p:spPr/>
        <p:txBody>
          <a:bodyPr/>
          <a:lstStyle/>
          <a:p>
            <a:r>
              <a:rPr lang="en-US" dirty="0"/>
              <a:t>For the first ~3 weeks of class, you will be paired up randomly.</a:t>
            </a:r>
          </a:p>
          <a:p>
            <a:pPr lvl="1"/>
            <a:r>
              <a:rPr lang="en-US" dirty="0"/>
              <a:t>For in-class activities, algorithm history presentations, etc.</a:t>
            </a:r>
          </a:p>
          <a:p>
            <a:pPr lvl="1"/>
            <a:r>
              <a:rPr lang="en-US" dirty="0"/>
              <a:t>Gives you a chance to meet people</a:t>
            </a:r>
          </a:p>
          <a:p>
            <a:r>
              <a:rPr lang="en-US" dirty="0"/>
              <a:t>At the start of Unit 2, you will be assigned to a team. </a:t>
            </a:r>
          </a:p>
          <a:p>
            <a:endParaRPr lang="en-US" dirty="0"/>
          </a:p>
          <a:p>
            <a:pPr lvl="1"/>
            <a:endParaRPr lang="en-US" dirty="0"/>
          </a:p>
        </p:txBody>
      </p:sp>
    </p:spTree>
    <p:extLst>
      <p:ext uri="{BB962C8B-B14F-4D97-AF65-F5344CB8AC3E}">
        <p14:creationId xmlns:p14="http://schemas.microsoft.com/office/powerpoint/2010/main" val="2138675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E6206-F1F6-7FD0-0E01-13ECCBB052C5}"/>
              </a:ext>
            </a:extLst>
          </p:cNvPr>
          <p:cNvSpPr>
            <a:spLocks noGrp="1"/>
          </p:cNvSpPr>
          <p:nvPr>
            <p:ph type="title"/>
          </p:nvPr>
        </p:nvSpPr>
        <p:spPr/>
        <p:txBody>
          <a:bodyPr/>
          <a:lstStyle/>
          <a:p>
            <a:r>
              <a:rPr lang="en-US" dirty="0"/>
              <a:t>Teams</a:t>
            </a:r>
          </a:p>
        </p:txBody>
      </p:sp>
      <p:sp>
        <p:nvSpPr>
          <p:cNvPr id="3" name="Content Placeholder 2">
            <a:extLst>
              <a:ext uri="{FF2B5EF4-FFF2-40B4-BE49-F238E27FC236}">
                <a16:creationId xmlns:a16="http://schemas.microsoft.com/office/drawing/2014/main" id="{EEB3D765-1207-91DA-AACC-A3547598A87D}"/>
              </a:ext>
            </a:extLst>
          </p:cNvPr>
          <p:cNvSpPr>
            <a:spLocks noGrp="1"/>
          </p:cNvSpPr>
          <p:nvPr>
            <p:ph idx="1"/>
          </p:nvPr>
        </p:nvSpPr>
        <p:spPr/>
        <p:txBody>
          <a:bodyPr/>
          <a:lstStyle/>
          <a:p>
            <a:r>
              <a:rPr lang="en-US" dirty="0"/>
              <a:t>What a team does:</a:t>
            </a:r>
          </a:p>
          <a:p>
            <a:pPr lvl="1"/>
            <a:r>
              <a:rPr lang="en-US" dirty="0"/>
              <a:t>Sits together in class</a:t>
            </a:r>
          </a:p>
          <a:p>
            <a:pPr lvl="1"/>
            <a:r>
              <a:rPr lang="en-US" dirty="0"/>
              <a:t>Works on in-class activities together</a:t>
            </a:r>
          </a:p>
          <a:p>
            <a:pPr lvl="1"/>
            <a:r>
              <a:rPr lang="en-US" dirty="0"/>
              <a:t>Meets outside of class to discuss (hopefully!)</a:t>
            </a:r>
          </a:p>
          <a:p>
            <a:pPr lvl="1"/>
            <a:r>
              <a:rPr lang="en-US" dirty="0"/>
              <a:t>Works on projects together</a:t>
            </a:r>
          </a:p>
          <a:p>
            <a:pPr lvl="1"/>
            <a:endParaRPr lang="en-US" dirty="0"/>
          </a:p>
          <a:p>
            <a:r>
              <a:rPr lang="en-US" dirty="0"/>
              <a:t>A consistent group for you to work with.</a:t>
            </a:r>
          </a:p>
          <a:p>
            <a:r>
              <a:rPr lang="en-US" dirty="0"/>
              <a:t>Your preferences will be considered.</a:t>
            </a:r>
          </a:p>
          <a:p>
            <a:pPr lvl="1"/>
            <a:r>
              <a:rPr lang="en-US" dirty="0"/>
              <a:t>Via Google form, assigned end of week 2.</a:t>
            </a:r>
          </a:p>
        </p:txBody>
      </p:sp>
    </p:spTree>
    <p:extLst>
      <p:ext uri="{BB962C8B-B14F-4D97-AF65-F5344CB8AC3E}">
        <p14:creationId xmlns:p14="http://schemas.microsoft.com/office/powerpoint/2010/main" val="608037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59411D-0587-F4C9-106B-0EC26E4F9116}"/>
              </a:ext>
            </a:extLst>
          </p:cNvPr>
          <p:cNvSpPr>
            <a:spLocks noGrp="1"/>
          </p:cNvSpPr>
          <p:nvPr>
            <p:ph type="title"/>
          </p:nvPr>
        </p:nvSpPr>
        <p:spPr/>
        <p:txBody>
          <a:bodyPr/>
          <a:lstStyle/>
          <a:p>
            <a:r>
              <a:rPr lang="en-US" dirty="0"/>
              <a:t>Go through the syllabus document</a:t>
            </a:r>
          </a:p>
        </p:txBody>
      </p:sp>
      <p:sp>
        <p:nvSpPr>
          <p:cNvPr id="5" name="Text Placeholder 4">
            <a:extLst>
              <a:ext uri="{FF2B5EF4-FFF2-40B4-BE49-F238E27FC236}">
                <a16:creationId xmlns:a16="http://schemas.microsoft.com/office/drawing/2014/main" id="{D1212BF0-7ED2-CCC6-1756-0968023CB16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82390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3E70A-ACA7-BB5B-227A-B4E7FA223AC2}"/>
              </a:ext>
            </a:extLst>
          </p:cNvPr>
          <p:cNvSpPr>
            <a:spLocks noGrp="1"/>
          </p:cNvSpPr>
          <p:nvPr>
            <p:ph type="ctrTitle"/>
          </p:nvPr>
        </p:nvSpPr>
        <p:spPr/>
        <p:txBody>
          <a:bodyPr/>
          <a:lstStyle/>
          <a:p>
            <a:r>
              <a:rPr lang="en-US" dirty="0"/>
              <a:t>What's CS 374 about?</a:t>
            </a:r>
          </a:p>
        </p:txBody>
      </p:sp>
      <p:sp>
        <p:nvSpPr>
          <p:cNvPr id="4" name="Subtitle 3">
            <a:extLst>
              <a:ext uri="{FF2B5EF4-FFF2-40B4-BE49-F238E27FC236}">
                <a16:creationId xmlns:a16="http://schemas.microsoft.com/office/drawing/2014/main" id="{9DC302BC-C9B5-15C8-3138-A5B770CFFC9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11884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CC17B-4188-78CD-2DF9-51DF65B06A78}"/>
              </a:ext>
            </a:extLst>
          </p:cNvPr>
          <p:cNvSpPr>
            <a:spLocks noGrp="1"/>
          </p:cNvSpPr>
          <p:nvPr>
            <p:ph type="title"/>
          </p:nvPr>
        </p:nvSpPr>
        <p:spPr/>
        <p:txBody>
          <a:bodyPr/>
          <a:lstStyle/>
          <a:p>
            <a:r>
              <a:rPr lang="en-US" dirty="0"/>
              <a:t>Outline</a:t>
            </a:r>
          </a:p>
        </p:txBody>
      </p:sp>
      <p:sp>
        <p:nvSpPr>
          <p:cNvPr id="4" name="Content Placeholder 3">
            <a:extLst>
              <a:ext uri="{FF2B5EF4-FFF2-40B4-BE49-F238E27FC236}">
                <a16:creationId xmlns:a16="http://schemas.microsoft.com/office/drawing/2014/main" id="{C5E001A4-9E5D-2F3D-615E-B450A31CDAC4}"/>
              </a:ext>
            </a:extLst>
          </p:cNvPr>
          <p:cNvSpPr>
            <a:spLocks noGrp="1"/>
          </p:cNvSpPr>
          <p:nvPr>
            <p:ph idx="1"/>
          </p:nvPr>
        </p:nvSpPr>
        <p:spPr/>
        <p:txBody>
          <a:bodyPr/>
          <a:lstStyle/>
          <a:p>
            <a:r>
              <a:rPr lang="en-US" dirty="0"/>
              <a:t>Expanding your toolbox</a:t>
            </a:r>
          </a:p>
          <a:p>
            <a:r>
              <a:rPr lang="en-US" dirty="0"/>
              <a:t>Subjectivity</a:t>
            </a:r>
          </a:p>
          <a:p>
            <a:r>
              <a:rPr lang="en-US" dirty="0"/>
              <a:t>What's a "good" answer?</a:t>
            </a:r>
          </a:p>
          <a:p>
            <a:r>
              <a:rPr lang="en-US" dirty="0"/>
              <a:t>Communication</a:t>
            </a:r>
          </a:p>
        </p:txBody>
      </p:sp>
    </p:spTree>
    <p:extLst>
      <p:ext uri="{BB962C8B-B14F-4D97-AF65-F5344CB8AC3E}">
        <p14:creationId xmlns:p14="http://schemas.microsoft.com/office/powerpoint/2010/main" val="1448308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62F05-AE8D-A2EA-5F68-D311B5066227}"/>
              </a:ext>
            </a:extLst>
          </p:cNvPr>
          <p:cNvSpPr>
            <a:spLocks noGrp="1"/>
          </p:cNvSpPr>
          <p:nvPr>
            <p:ph type="title"/>
          </p:nvPr>
        </p:nvSpPr>
        <p:spPr/>
        <p:txBody>
          <a:bodyPr/>
          <a:lstStyle/>
          <a:p>
            <a:r>
              <a:rPr lang="en-US" dirty="0"/>
              <a:t>Expanding your tool chest</a:t>
            </a:r>
          </a:p>
        </p:txBody>
      </p:sp>
      <p:sp>
        <p:nvSpPr>
          <p:cNvPr id="3" name="Content Placeholder 2">
            <a:extLst>
              <a:ext uri="{FF2B5EF4-FFF2-40B4-BE49-F238E27FC236}">
                <a16:creationId xmlns:a16="http://schemas.microsoft.com/office/drawing/2014/main" id="{BC4D9209-4489-F667-0C82-B4DC7CDC0D68}"/>
              </a:ext>
            </a:extLst>
          </p:cNvPr>
          <p:cNvSpPr>
            <a:spLocks noGrp="1"/>
          </p:cNvSpPr>
          <p:nvPr>
            <p:ph idx="1"/>
          </p:nvPr>
        </p:nvSpPr>
        <p:spPr>
          <a:xfrm>
            <a:off x="838200" y="1825625"/>
            <a:ext cx="5370286" cy="4351338"/>
          </a:xfrm>
        </p:spPr>
        <p:txBody>
          <a:bodyPr/>
          <a:lstStyle/>
          <a:p>
            <a:r>
              <a:rPr lang="en-US" dirty="0"/>
              <a:t>To solve an algorithmic problem, you need to apply both:</a:t>
            </a:r>
          </a:p>
          <a:p>
            <a:endParaRPr lang="en-US" dirty="0"/>
          </a:p>
          <a:p>
            <a:r>
              <a:rPr lang="en-US" dirty="0"/>
              <a:t>Understanding </a:t>
            </a:r>
          </a:p>
          <a:p>
            <a:r>
              <a:rPr lang="en-US" dirty="0"/>
              <a:t>Language</a:t>
            </a:r>
          </a:p>
          <a:p>
            <a:endParaRPr lang="en-US" dirty="0"/>
          </a:p>
        </p:txBody>
      </p:sp>
      <p:pic>
        <p:nvPicPr>
          <p:cNvPr id="5" name="Picture 4" descr="A tool box full of tools&#10;&#10;AI-generated content may be incorrect.">
            <a:extLst>
              <a:ext uri="{FF2B5EF4-FFF2-40B4-BE49-F238E27FC236}">
                <a16:creationId xmlns:a16="http://schemas.microsoft.com/office/drawing/2014/main" id="{BAFEEE3C-F5FA-126C-59CF-57DBE0F1FBC8}"/>
              </a:ext>
            </a:extLst>
          </p:cNvPr>
          <p:cNvPicPr>
            <a:picLocks noChangeAspect="1"/>
          </p:cNvPicPr>
          <p:nvPr/>
        </p:nvPicPr>
        <p:blipFill>
          <a:blip r:embed="rId3"/>
          <a:stretch>
            <a:fillRect/>
          </a:stretch>
        </p:blipFill>
        <p:spPr>
          <a:xfrm>
            <a:off x="6615723" y="2572544"/>
            <a:ext cx="5080000" cy="2857500"/>
          </a:xfrm>
          <a:prstGeom prst="rect">
            <a:avLst/>
          </a:prstGeom>
        </p:spPr>
      </p:pic>
    </p:spTree>
    <p:extLst>
      <p:ext uri="{BB962C8B-B14F-4D97-AF65-F5344CB8AC3E}">
        <p14:creationId xmlns:p14="http://schemas.microsoft.com/office/powerpoint/2010/main" val="2216705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E4538-6707-C041-7767-C1B50D867AAB}"/>
              </a:ext>
            </a:extLst>
          </p:cNvPr>
          <p:cNvSpPr>
            <a:spLocks noGrp="1"/>
          </p:cNvSpPr>
          <p:nvPr>
            <p:ph type="title"/>
          </p:nvPr>
        </p:nvSpPr>
        <p:spPr/>
        <p:txBody>
          <a:bodyPr/>
          <a:lstStyle/>
          <a:p>
            <a:r>
              <a:rPr lang="en-US" dirty="0"/>
              <a:t>Example: Too much to do, too little time</a:t>
            </a:r>
          </a:p>
        </p:txBody>
      </p:sp>
      <p:sp>
        <p:nvSpPr>
          <p:cNvPr id="3" name="Content Placeholder 2">
            <a:extLst>
              <a:ext uri="{FF2B5EF4-FFF2-40B4-BE49-F238E27FC236}">
                <a16:creationId xmlns:a16="http://schemas.microsoft.com/office/drawing/2014/main" id="{FC712512-5650-6BD4-303B-FA9E7447A63C}"/>
              </a:ext>
            </a:extLst>
          </p:cNvPr>
          <p:cNvSpPr>
            <a:spLocks noGrp="1"/>
          </p:cNvSpPr>
          <p:nvPr>
            <p:ph idx="1"/>
          </p:nvPr>
        </p:nvSpPr>
        <p:spPr/>
        <p:txBody>
          <a:bodyPr/>
          <a:lstStyle/>
          <a:p>
            <a:r>
              <a:rPr lang="en-US" dirty="0"/>
              <a:t>Dr. Roscoe's Tuesday </a:t>
            </a:r>
            <a:r>
              <a:rPr lang="en-US" dirty="0" err="1"/>
              <a:t>todo</a:t>
            </a:r>
            <a:r>
              <a:rPr lang="en-US" dirty="0"/>
              <a:t> list:</a:t>
            </a:r>
          </a:p>
          <a:p>
            <a:pPr lvl="1"/>
            <a:r>
              <a:rPr lang="en-US" dirty="0"/>
              <a:t>Prep CS 374 Tuesday lecture</a:t>
            </a:r>
          </a:p>
          <a:p>
            <a:pPr lvl="1"/>
            <a:r>
              <a:rPr lang="en-US" dirty="0"/>
              <a:t>Write a sentence for research paper</a:t>
            </a:r>
          </a:p>
          <a:p>
            <a:pPr lvl="1"/>
            <a:r>
              <a:rPr lang="en-US" dirty="0"/>
              <a:t>Decide Math 104 homework problems</a:t>
            </a:r>
          </a:p>
          <a:p>
            <a:pPr lvl="1"/>
            <a:r>
              <a:rPr lang="en-US" dirty="0"/>
              <a:t>Prep Math 104 Tuesday lecture</a:t>
            </a:r>
          </a:p>
          <a:p>
            <a:pPr lvl="1"/>
            <a:r>
              <a:rPr lang="en-US" dirty="0"/>
              <a:t>Organize Canvas course</a:t>
            </a:r>
          </a:p>
          <a:p>
            <a:pPr lvl="1"/>
            <a:r>
              <a:rPr lang="en-US" dirty="0"/>
              <a:t>Knit hat </a:t>
            </a:r>
          </a:p>
          <a:p>
            <a:pPr lvl="1"/>
            <a:r>
              <a:rPr lang="en-US" dirty="0"/>
              <a:t>Read a research paper</a:t>
            </a:r>
          </a:p>
          <a:p>
            <a:pPr lvl="1"/>
            <a:endParaRPr lang="en-US" dirty="0"/>
          </a:p>
          <a:p>
            <a:endParaRPr lang="en-US" dirty="0"/>
          </a:p>
        </p:txBody>
      </p:sp>
    </p:spTree>
    <p:extLst>
      <p:ext uri="{BB962C8B-B14F-4D97-AF65-F5344CB8AC3E}">
        <p14:creationId xmlns:p14="http://schemas.microsoft.com/office/powerpoint/2010/main" val="835310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51962-B373-CEE5-FB26-DF3A93A7C6D7}"/>
              </a:ext>
            </a:extLst>
          </p:cNvPr>
          <p:cNvSpPr>
            <a:spLocks noGrp="1"/>
          </p:cNvSpPr>
          <p:nvPr>
            <p:ph type="title"/>
          </p:nvPr>
        </p:nvSpPr>
        <p:spPr/>
        <p:txBody>
          <a:bodyPr/>
          <a:lstStyle/>
          <a:p>
            <a:r>
              <a:rPr lang="en-US" dirty="0"/>
              <a:t>Example: Too much to do, too little time</a:t>
            </a:r>
          </a:p>
        </p:txBody>
      </p:sp>
      <p:sp>
        <p:nvSpPr>
          <p:cNvPr id="3" name="Content Placeholder 2">
            <a:extLst>
              <a:ext uri="{FF2B5EF4-FFF2-40B4-BE49-F238E27FC236}">
                <a16:creationId xmlns:a16="http://schemas.microsoft.com/office/drawing/2014/main" id="{1526A637-05B7-7C87-3413-B03B4939F571}"/>
              </a:ext>
            </a:extLst>
          </p:cNvPr>
          <p:cNvSpPr>
            <a:spLocks noGrp="1"/>
          </p:cNvSpPr>
          <p:nvPr>
            <p:ph idx="1"/>
          </p:nvPr>
        </p:nvSpPr>
        <p:spPr/>
        <p:txBody>
          <a:bodyPr/>
          <a:lstStyle/>
          <a:p>
            <a:r>
              <a:rPr lang="en-US" dirty="0"/>
              <a:t>One way to solve: enumerate all possibilities</a:t>
            </a:r>
          </a:p>
          <a:p>
            <a:pPr lvl="1"/>
            <a:r>
              <a:rPr lang="en-US" dirty="0"/>
              <a:t>How many ways can I order my </a:t>
            </a:r>
            <a:r>
              <a:rPr lang="en-US" dirty="0" err="1"/>
              <a:t>todo</a:t>
            </a:r>
            <a:r>
              <a:rPr lang="en-US" dirty="0"/>
              <a:t> list?</a:t>
            </a:r>
          </a:p>
          <a:p>
            <a:pPr lvl="1"/>
            <a:endParaRPr lang="en-US" dirty="0"/>
          </a:p>
          <a:p>
            <a:r>
              <a:rPr lang="en-US" dirty="0"/>
              <a:t>Not useful for getting stuff done.</a:t>
            </a:r>
          </a:p>
          <a:p>
            <a:r>
              <a:rPr lang="en-US" dirty="0"/>
              <a:t>I need a </a:t>
            </a:r>
            <a:r>
              <a:rPr lang="en-US" b="1" dirty="0"/>
              <a:t>scheduling algorithm</a:t>
            </a:r>
            <a:r>
              <a:rPr lang="en-US" dirty="0"/>
              <a:t>.</a:t>
            </a:r>
          </a:p>
          <a:p>
            <a:endParaRPr lang="en-US" dirty="0"/>
          </a:p>
        </p:txBody>
      </p:sp>
    </p:spTree>
    <p:extLst>
      <p:ext uri="{BB962C8B-B14F-4D97-AF65-F5344CB8AC3E}">
        <p14:creationId xmlns:p14="http://schemas.microsoft.com/office/powerpoint/2010/main" val="3035213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4A39F-8670-4F36-369B-C2752D812715}"/>
              </a:ext>
            </a:extLst>
          </p:cNvPr>
          <p:cNvSpPr>
            <a:spLocks noGrp="1"/>
          </p:cNvSpPr>
          <p:nvPr>
            <p:ph type="title"/>
          </p:nvPr>
        </p:nvSpPr>
        <p:spPr/>
        <p:txBody>
          <a:bodyPr/>
          <a:lstStyle/>
          <a:p>
            <a:r>
              <a:rPr lang="en-US" dirty="0"/>
              <a:t>What's an algorithm?</a:t>
            </a:r>
          </a:p>
        </p:txBody>
      </p:sp>
      <p:sp>
        <p:nvSpPr>
          <p:cNvPr id="3" name="Content Placeholder 2">
            <a:extLst>
              <a:ext uri="{FF2B5EF4-FFF2-40B4-BE49-F238E27FC236}">
                <a16:creationId xmlns:a16="http://schemas.microsoft.com/office/drawing/2014/main" id="{BC754694-C95D-5478-CDD8-36E45EE5FBAD}"/>
              </a:ext>
            </a:extLst>
          </p:cNvPr>
          <p:cNvSpPr>
            <a:spLocks noGrp="1"/>
          </p:cNvSpPr>
          <p:nvPr>
            <p:ph idx="1"/>
          </p:nvPr>
        </p:nvSpPr>
        <p:spPr/>
        <p:txBody>
          <a:bodyPr/>
          <a:lstStyle/>
          <a:p>
            <a:r>
              <a:rPr lang="en-US" dirty="0"/>
              <a:t>An </a:t>
            </a:r>
            <a:r>
              <a:rPr lang="en-US" b="1" dirty="0"/>
              <a:t>algorithm </a:t>
            </a:r>
            <a:r>
              <a:rPr lang="en-US" dirty="0"/>
              <a:t>is a </a:t>
            </a:r>
            <a:r>
              <a:rPr lang="en-US" b="1" dirty="0"/>
              <a:t>process to accomplish a specific task.</a:t>
            </a:r>
            <a:endParaRPr lang="en-US" dirty="0"/>
          </a:p>
          <a:p>
            <a:endParaRPr lang="en-US" b="1" dirty="0"/>
          </a:p>
          <a:p>
            <a:endParaRPr lang="en-US" dirty="0"/>
          </a:p>
        </p:txBody>
      </p:sp>
    </p:spTree>
    <p:extLst>
      <p:ext uri="{BB962C8B-B14F-4D97-AF65-F5344CB8AC3E}">
        <p14:creationId xmlns:p14="http://schemas.microsoft.com/office/powerpoint/2010/main" val="19389133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8C1C0-D63E-A59C-39C0-B3EDD5F040FA}"/>
              </a:ext>
            </a:extLst>
          </p:cNvPr>
          <p:cNvSpPr>
            <a:spLocks noGrp="1"/>
          </p:cNvSpPr>
          <p:nvPr>
            <p:ph type="title"/>
          </p:nvPr>
        </p:nvSpPr>
        <p:spPr/>
        <p:txBody>
          <a:bodyPr/>
          <a:lstStyle/>
          <a:p>
            <a:r>
              <a:rPr lang="en-US" dirty="0"/>
              <a:t>Structure is needed</a:t>
            </a:r>
          </a:p>
        </p:txBody>
      </p:sp>
      <p:sp>
        <p:nvSpPr>
          <p:cNvPr id="3" name="Content Placeholder 2">
            <a:extLst>
              <a:ext uri="{FF2B5EF4-FFF2-40B4-BE49-F238E27FC236}">
                <a16:creationId xmlns:a16="http://schemas.microsoft.com/office/drawing/2014/main" id="{7EEE2531-D5F9-51BB-DB1B-D2BAE89BA38C}"/>
              </a:ext>
            </a:extLst>
          </p:cNvPr>
          <p:cNvSpPr>
            <a:spLocks noGrp="1"/>
          </p:cNvSpPr>
          <p:nvPr>
            <p:ph idx="1"/>
          </p:nvPr>
        </p:nvSpPr>
        <p:spPr/>
        <p:txBody>
          <a:bodyPr/>
          <a:lstStyle/>
          <a:p>
            <a:r>
              <a:rPr lang="en-US" dirty="0"/>
              <a:t>To get anything done, I need a </a:t>
            </a:r>
            <a:r>
              <a:rPr lang="en-US" b="1" i="1" dirty="0"/>
              <a:t>data structure</a:t>
            </a:r>
            <a:r>
              <a:rPr lang="en-US" dirty="0"/>
              <a:t>.</a:t>
            </a:r>
          </a:p>
          <a:p>
            <a:endParaRPr lang="en-US" dirty="0"/>
          </a:p>
          <a:p>
            <a:r>
              <a:rPr lang="en-US" dirty="0"/>
              <a:t>If you work with data, how are you storing it?</a:t>
            </a:r>
          </a:p>
          <a:p>
            <a:pPr lvl="1"/>
            <a:r>
              <a:rPr lang="en-US" dirty="0"/>
              <a:t>List, graph, queue, etc.</a:t>
            </a:r>
          </a:p>
          <a:p>
            <a:pPr lvl="1"/>
            <a:endParaRPr lang="en-US" dirty="0"/>
          </a:p>
          <a:p>
            <a:r>
              <a:rPr lang="en-US" dirty="0"/>
              <a:t>I choose </a:t>
            </a:r>
            <a:r>
              <a:rPr lang="en-US" b="1" dirty="0"/>
              <a:t>priority queue.</a:t>
            </a:r>
            <a:endParaRPr lang="en-US" dirty="0"/>
          </a:p>
        </p:txBody>
      </p:sp>
    </p:spTree>
    <p:extLst>
      <p:ext uri="{BB962C8B-B14F-4D97-AF65-F5344CB8AC3E}">
        <p14:creationId xmlns:p14="http://schemas.microsoft.com/office/powerpoint/2010/main" val="3907581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763F0-9F6F-1668-4F32-4B4A47C84F80}"/>
              </a:ext>
            </a:extLst>
          </p:cNvPr>
          <p:cNvSpPr>
            <a:spLocks noGrp="1"/>
          </p:cNvSpPr>
          <p:nvPr>
            <p:ph type="title"/>
          </p:nvPr>
        </p:nvSpPr>
        <p:spPr/>
        <p:txBody>
          <a:bodyPr/>
          <a:lstStyle/>
          <a:p>
            <a:r>
              <a:rPr lang="en-US" dirty="0"/>
              <a:t>Priority Queue</a:t>
            </a:r>
          </a:p>
        </p:txBody>
      </p:sp>
      <p:sp>
        <p:nvSpPr>
          <p:cNvPr id="3" name="Content Placeholder 2">
            <a:extLst>
              <a:ext uri="{FF2B5EF4-FFF2-40B4-BE49-F238E27FC236}">
                <a16:creationId xmlns:a16="http://schemas.microsoft.com/office/drawing/2014/main" id="{74F4511C-1254-2CA6-7162-5493C297A8AD}"/>
              </a:ext>
            </a:extLst>
          </p:cNvPr>
          <p:cNvSpPr>
            <a:spLocks noGrp="1"/>
          </p:cNvSpPr>
          <p:nvPr>
            <p:ph idx="1"/>
          </p:nvPr>
        </p:nvSpPr>
        <p:spPr/>
        <p:txBody>
          <a:bodyPr/>
          <a:lstStyle/>
          <a:p>
            <a:r>
              <a:rPr lang="en-US" dirty="0"/>
              <a:t>I will label my data with priority (1 = high) and estimated time.</a:t>
            </a:r>
          </a:p>
          <a:p>
            <a:endParaRPr lang="en-US" dirty="0"/>
          </a:p>
          <a:p>
            <a:r>
              <a:rPr lang="en-US" dirty="0"/>
              <a:t>Dr. Roscoe's Tuesday </a:t>
            </a:r>
            <a:r>
              <a:rPr lang="en-US" dirty="0" err="1"/>
              <a:t>todo</a:t>
            </a:r>
            <a:r>
              <a:rPr lang="en-US" dirty="0"/>
              <a:t> list:</a:t>
            </a:r>
          </a:p>
          <a:p>
            <a:pPr lvl="1"/>
            <a:r>
              <a:rPr lang="en-US" dirty="0"/>
              <a:t>Prep CS 374 Tuesday lecture – 1, 1 hour</a:t>
            </a:r>
          </a:p>
          <a:p>
            <a:pPr lvl="1"/>
            <a:r>
              <a:rPr lang="en-US" dirty="0"/>
              <a:t>Write a sentence for research paper – 2, 30 minutes</a:t>
            </a:r>
          </a:p>
          <a:p>
            <a:pPr lvl="1"/>
            <a:r>
              <a:rPr lang="en-US" dirty="0"/>
              <a:t>Decide Math 104 homework problems – 3, 20 minutes</a:t>
            </a:r>
          </a:p>
          <a:p>
            <a:pPr lvl="1"/>
            <a:r>
              <a:rPr lang="en-US" dirty="0"/>
              <a:t>Prep Math 104 Tuesday lecture – 1, 1 hour</a:t>
            </a:r>
          </a:p>
          <a:p>
            <a:pPr lvl="1"/>
            <a:r>
              <a:rPr lang="en-US" dirty="0"/>
              <a:t>Organize Canvas course – 1, 45 minutes</a:t>
            </a:r>
          </a:p>
          <a:p>
            <a:pPr lvl="1"/>
            <a:r>
              <a:rPr lang="en-US" dirty="0"/>
              <a:t>Knit hat – 3, 10 minutes</a:t>
            </a:r>
          </a:p>
          <a:p>
            <a:pPr lvl="1"/>
            <a:r>
              <a:rPr lang="en-US" dirty="0"/>
              <a:t>Read a research paper – 2, 30 minutes</a:t>
            </a:r>
          </a:p>
          <a:p>
            <a:endParaRPr lang="en-US" dirty="0"/>
          </a:p>
          <a:p>
            <a:endParaRPr lang="en-US" dirty="0"/>
          </a:p>
        </p:txBody>
      </p:sp>
    </p:spTree>
    <p:extLst>
      <p:ext uri="{BB962C8B-B14F-4D97-AF65-F5344CB8AC3E}">
        <p14:creationId xmlns:p14="http://schemas.microsoft.com/office/powerpoint/2010/main" val="2631302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D9392-B056-F758-B95E-B994AF665AC3}"/>
              </a:ext>
            </a:extLst>
          </p:cNvPr>
          <p:cNvSpPr>
            <a:spLocks noGrp="1"/>
          </p:cNvSpPr>
          <p:nvPr>
            <p:ph type="title"/>
          </p:nvPr>
        </p:nvSpPr>
        <p:spPr/>
        <p:txBody>
          <a:bodyPr/>
          <a:lstStyle/>
          <a:p>
            <a:r>
              <a:rPr lang="en-US" dirty="0"/>
              <a:t>Desired Functionality</a:t>
            </a:r>
          </a:p>
        </p:txBody>
      </p:sp>
      <p:sp>
        <p:nvSpPr>
          <p:cNvPr id="3" name="Content Placeholder 2">
            <a:extLst>
              <a:ext uri="{FF2B5EF4-FFF2-40B4-BE49-F238E27FC236}">
                <a16:creationId xmlns:a16="http://schemas.microsoft.com/office/drawing/2014/main" id="{B76769FE-4747-8090-0CBC-A78A27D97B45}"/>
              </a:ext>
            </a:extLst>
          </p:cNvPr>
          <p:cNvSpPr>
            <a:spLocks noGrp="1"/>
          </p:cNvSpPr>
          <p:nvPr>
            <p:ph idx="1"/>
          </p:nvPr>
        </p:nvSpPr>
        <p:spPr/>
        <p:txBody>
          <a:bodyPr/>
          <a:lstStyle/>
          <a:p>
            <a:r>
              <a:rPr lang="en-US" dirty="0"/>
              <a:t>When I dequeue from my priority queue, it gives me the next thing I need to work on.</a:t>
            </a:r>
          </a:p>
          <a:p>
            <a:r>
              <a:rPr lang="en-US" dirty="0"/>
              <a:t>…there are many options. </a:t>
            </a:r>
          </a:p>
        </p:txBody>
      </p:sp>
      <p:pic>
        <p:nvPicPr>
          <p:cNvPr id="2050" name="Picture 2" descr="CPU-Scheduling">
            <a:extLst>
              <a:ext uri="{FF2B5EF4-FFF2-40B4-BE49-F238E27FC236}">
                <a16:creationId xmlns:a16="http://schemas.microsoft.com/office/drawing/2014/main" id="{BEFC89FD-541E-0C76-3CF2-D81238155F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1407" y="3162442"/>
            <a:ext cx="9269186" cy="36955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08018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496D7-E550-9DBD-F0D9-F98B7C1D5FC7}"/>
              </a:ext>
            </a:extLst>
          </p:cNvPr>
          <p:cNvSpPr>
            <a:spLocks noGrp="1"/>
          </p:cNvSpPr>
          <p:nvPr>
            <p:ph type="title"/>
          </p:nvPr>
        </p:nvSpPr>
        <p:spPr/>
        <p:txBody>
          <a:bodyPr/>
          <a:lstStyle/>
          <a:p>
            <a:r>
              <a:rPr lang="en-US" dirty="0"/>
              <a:t>Subjectivity and Biases</a:t>
            </a:r>
          </a:p>
        </p:txBody>
      </p:sp>
      <p:sp>
        <p:nvSpPr>
          <p:cNvPr id="3" name="Text Placeholder 2">
            <a:extLst>
              <a:ext uri="{FF2B5EF4-FFF2-40B4-BE49-F238E27FC236}">
                <a16:creationId xmlns:a16="http://schemas.microsoft.com/office/drawing/2014/main" id="{F8B57A1E-7E9F-77F9-9C50-28642079CC2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49866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AB5932-277B-55B5-B40F-EFD97FC78744}"/>
              </a:ext>
            </a:extLst>
          </p:cNvPr>
          <p:cNvSpPr>
            <a:spLocks noGrp="1"/>
          </p:cNvSpPr>
          <p:nvPr>
            <p:ph type="title"/>
          </p:nvPr>
        </p:nvSpPr>
        <p:spPr/>
        <p:txBody>
          <a:bodyPr/>
          <a:lstStyle/>
          <a:p>
            <a:r>
              <a:rPr lang="en-US" dirty="0"/>
              <a:t>How to choose what to do?</a:t>
            </a:r>
          </a:p>
        </p:txBody>
      </p:sp>
      <p:sp>
        <p:nvSpPr>
          <p:cNvPr id="5" name="Content Placeholder 4">
            <a:extLst>
              <a:ext uri="{FF2B5EF4-FFF2-40B4-BE49-F238E27FC236}">
                <a16:creationId xmlns:a16="http://schemas.microsoft.com/office/drawing/2014/main" id="{C01F8D4B-4729-1FE5-D966-ACEA507522B1}"/>
              </a:ext>
            </a:extLst>
          </p:cNvPr>
          <p:cNvSpPr>
            <a:spLocks noGrp="1"/>
          </p:cNvSpPr>
          <p:nvPr>
            <p:ph idx="1"/>
          </p:nvPr>
        </p:nvSpPr>
        <p:spPr/>
        <p:txBody>
          <a:bodyPr>
            <a:normAutofit/>
          </a:bodyPr>
          <a:lstStyle/>
          <a:p>
            <a:r>
              <a:rPr lang="en-US" dirty="0"/>
              <a:t>My ordering of tasks may not be what you would choose.</a:t>
            </a:r>
          </a:p>
          <a:p>
            <a:r>
              <a:rPr lang="en-US" dirty="0"/>
              <a:t>The solution we choose is not necessarily objective.</a:t>
            </a:r>
          </a:p>
          <a:p>
            <a:endParaRPr lang="en-US" dirty="0"/>
          </a:p>
          <a:p>
            <a:r>
              <a:rPr lang="en-US" dirty="0"/>
              <a:t>Conflicting priorities </a:t>
            </a:r>
            <a:r>
              <a:rPr lang="en-US" dirty="0">
                <a:sym typeface="Wingdings" pitchFamily="2" charset="2"/>
              </a:rPr>
              <a:t> No easy answers.</a:t>
            </a:r>
            <a:endParaRPr lang="en-US" dirty="0"/>
          </a:p>
        </p:txBody>
      </p:sp>
    </p:spTree>
    <p:extLst>
      <p:ext uri="{BB962C8B-B14F-4D97-AF65-F5344CB8AC3E}">
        <p14:creationId xmlns:p14="http://schemas.microsoft.com/office/powerpoint/2010/main" val="2213678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0BD67-4BFD-3877-2086-97300136607A}"/>
              </a:ext>
            </a:extLst>
          </p:cNvPr>
          <p:cNvSpPr>
            <a:spLocks noGrp="1"/>
          </p:cNvSpPr>
          <p:nvPr>
            <p:ph type="title"/>
          </p:nvPr>
        </p:nvSpPr>
        <p:spPr/>
        <p:txBody>
          <a:bodyPr/>
          <a:lstStyle/>
          <a:p>
            <a:r>
              <a:rPr lang="en-US" dirty="0"/>
              <a:t>You have assumptions</a:t>
            </a:r>
          </a:p>
        </p:txBody>
      </p:sp>
      <p:sp>
        <p:nvSpPr>
          <p:cNvPr id="3" name="Content Placeholder 2">
            <a:extLst>
              <a:ext uri="{FF2B5EF4-FFF2-40B4-BE49-F238E27FC236}">
                <a16:creationId xmlns:a16="http://schemas.microsoft.com/office/drawing/2014/main" id="{2B3C0A3D-26A3-7813-AA1F-282BE4F5F912}"/>
              </a:ext>
            </a:extLst>
          </p:cNvPr>
          <p:cNvSpPr>
            <a:spLocks noGrp="1"/>
          </p:cNvSpPr>
          <p:nvPr>
            <p:ph idx="1"/>
          </p:nvPr>
        </p:nvSpPr>
        <p:spPr/>
        <p:txBody>
          <a:bodyPr/>
          <a:lstStyle/>
          <a:p>
            <a:r>
              <a:rPr lang="en-US" dirty="0"/>
              <a:t>You bring assumptions to the table about how the structure works.</a:t>
            </a:r>
          </a:p>
          <a:p>
            <a:r>
              <a:rPr lang="en-US" dirty="0"/>
              <a:t>You have biases about what is "easy" to compute</a:t>
            </a:r>
          </a:p>
          <a:p>
            <a:r>
              <a:rPr lang="en-US" dirty="0"/>
              <a:t>Others (your peers/industry professionals/the internet) may have differing opinions.</a:t>
            </a:r>
          </a:p>
        </p:txBody>
      </p:sp>
    </p:spTree>
    <p:extLst>
      <p:ext uri="{BB962C8B-B14F-4D97-AF65-F5344CB8AC3E}">
        <p14:creationId xmlns:p14="http://schemas.microsoft.com/office/powerpoint/2010/main" val="3443615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33D78-D80E-7A8A-C46E-E4AE0F9A5E62}"/>
              </a:ext>
            </a:extLst>
          </p:cNvPr>
          <p:cNvSpPr>
            <a:spLocks noGrp="1"/>
          </p:cNvSpPr>
          <p:nvPr>
            <p:ph type="title"/>
          </p:nvPr>
        </p:nvSpPr>
        <p:spPr/>
        <p:txBody>
          <a:bodyPr/>
          <a:lstStyle/>
          <a:p>
            <a:r>
              <a:rPr lang="en-US" dirty="0"/>
              <a:t>Book recommendation</a:t>
            </a:r>
          </a:p>
        </p:txBody>
      </p:sp>
      <p:sp>
        <p:nvSpPr>
          <p:cNvPr id="3" name="Content Placeholder 2">
            <a:extLst>
              <a:ext uri="{FF2B5EF4-FFF2-40B4-BE49-F238E27FC236}">
                <a16:creationId xmlns:a16="http://schemas.microsoft.com/office/drawing/2014/main" id="{86CECA3C-23CC-C242-5918-60004FFB7241}"/>
              </a:ext>
            </a:extLst>
          </p:cNvPr>
          <p:cNvSpPr>
            <a:spLocks noGrp="1"/>
          </p:cNvSpPr>
          <p:nvPr>
            <p:ph idx="1"/>
          </p:nvPr>
        </p:nvSpPr>
        <p:spPr>
          <a:xfrm>
            <a:off x="1130300" y="1787525"/>
            <a:ext cx="5829300" cy="4351338"/>
          </a:xfrm>
        </p:spPr>
        <p:txBody>
          <a:bodyPr>
            <a:normAutofit fontScale="92500" lnSpcReduction="10000"/>
          </a:bodyPr>
          <a:lstStyle/>
          <a:p>
            <a:pPr marL="0" indent="0">
              <a:buNone/>
            </a:pPr>
            <a:r>
              <a:rPr lang="en-US" sz="5800" dirty="0"/>
              <a:t>"An algorithm is an opinion formalized in code."</a:t>
            </a:r>
          </a:p>
          <a:p>
            <a:pPr marL="0" indent="0">
              <a:buNone/>
            </a:pPr>
            <a:endParaRPr lang="en-US" dirty="0"/>
          </a:p>
          <a:p>
            <a:pPr marL="0" indent="0">
              <a:buNone/>
            </a:pPr>
            <a:endParaRPr lang="en-US" dirty="0"/>
          </a:p>
          <a:p>
            <a:r>
              <a:rPr lang="en-US" dirty="0"/>
              <a:t>The tools you use,</a:t>
            </a:r>
          </a:p>
          <a:p>
            <a:r>
              <a:rPr lang="en-US" dirty="0"/>
              <a:t>How you choose to use them,</a:t>
            </a:r>
          </a:p>
          <a:p>
            <a:r>
              <a:rPr lang="en-US" dirty="0"/>
              <a:t>They're </a:t>
            </a:r>
            <a:r>
              <a:rPr lang="en-US" i="1" dirty="0"/>
              <a:t>your </a:t>
            </a:r>
            <a:r>
              <a:rPr lang="en-US" dirty="0"/>
              <a:t>decisions.</a:t>
            </a:r>
          </a:p>
        </p:txBody>
      </p:sp>
      <p:pic>
        <p:nvPicPr>
          <p:cNvPr id="3074" name="Picture 2" descr="Weapons of Math Destruction: How Big Data Increases Inequality and  Threatens Democracy: O'Neil, Cathy: 9780553418811: Amazon.com: Books">
            <a:extLst>
              <a:ext uri="{FF2B5EF4-FFF2-40B4-BE49-F238E27FC236}">
                <a16:creationId xmlns:a16="http://schemas.microsoft.com/office/drawing/2014/main" id="{FB0FDCEC-26FB-27E6-AA58-43973255ED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1750" y="0"/>
            <a:ext cx="45402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94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23924-71AF-4FB0-0AEF-7BE227B48984}"/>
              </a:ext>
            </a:extLst>
          </p:cNvPr>
          <p:cNvSpPr>
            <a:spLocks noGrp="1"/>
          </p:cNvSpPr>
          <p:nvPr>
            <p:ph type="title"/>
          </p:nvPr>
        </p:nvSpPr>
        <p:spPr/>
        <p:txBody>
          <a:bodyPr/>
          <a:lstStyle/>
          <a:p>
            <a:r>
              <a:rPr lang="en-US" dirty="0"/>
              <a:t>There are few wrong answers in this class.</a:t>
            </a:r>
          </a:p>
        </p:txBody>
      </p:sp>
      <p:sp>
        <p:nvSpPr>
          <p:cNvPr id="3" name="Content Placeholder 2">
            <a:extLst>
              <a:ext uri="{FF2B5EF4-FFF2-40B4-BE49-F238E27FC236}">
                <a16:creationId xmlns:a16="http://schemas.microsoft.com/office/drawing/2014/main" id="{F18202AE-2657-5672-7F2C-8CD133C6F49E}"/>
              </a:ext>
            </a:extLst>
          </p:cNvPr>
          <p:cNvSpPr>
            <a:spLocks noGrp="1"/>
          </p:cNvSpPr>
          <p:nvPr>
            <p:ph idx="1"/>
          </p:nvPr>
        </p:nvSpPr>
        <p:spPr/>
        <p:txBody>
          <a:bodyPr/>
          <a:lstStyle/>
          <a:p>
            <a:r>
              <a:rPr lang="en-US" dirty="0"/>
              <a:t>…There are simply </a:t>
            </a:r>
            <a:r>
              <a:rPr lang="en-US" i="1" dirty="0"/>
              <a:t>less good </a:t>
            </a:r>
            <a:r>
              <a:rPr lang="en-US" dirty="0"/>
              <a:t>answers.</a:t>
            </a:r>
          </a:p>
          <a:p>
            <a:endParaRPr lang="en-US" dirty="0"/>
          </a:p>
          <a:p>
            <a:r>
              <a:rPr lang="en-US" dirty="0"/>
              <a:t>Scheduling problem alternatives: </a:t>
            </a:r>
          </a:p>
          <a:p>
            <a:pPr lvl="1"/>
            <a:r>
              <a:rPr lang="en-US" dirty="0"/>
              <a:t>Use </a:t>
            </a:r>
            <a:r>
              <a:rPr lang="en-US" dirty="0" err="1"/>
              <a:t>hashmap</a:t>
            </a:r>
            <a:r>
              <a:rPr lang="en-US" dirty="0"/>
              <a:t> instead? </a:t>
            </a:r>
          </a:p>
          <a:p>
            <a:pPr lvl="1"/>
            <a:r>
              <a:rPr lang="en-US" dirty="0"/>
              <a:t>Sort by time estimated to take?</a:t>
            </a:r>
          </a:p>
          <a:p>
            <a:endParaRPr lang="en-US" dirty="0"/>
          </a:p>
        </p:txBody>
      </p:sp>
    </p:spTree>
    <p:extLst>
      <p:ext uri="{BB962C8B-B14F-4D97-AF65-F5344CB8AC3E}">
        <p14:creationId xmlns:p14="http://schemas.microsoft.com/office/powerpoint/2010/main" val="3503204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6739C-4AE6-4E4A-30DF-4CF6B023AEFB}"/>
              </a:ext>
            </a:extLst>
          </p:cNvPr>
          <p:cNvSpPr>
            <a:spLocks noGrp="1"/>
          </p:cNvSpPr>
          <p:nvPr>
            <p:ph type="title"/>
          </p:nvPr>
        </p:nvSpPr>
        <p:spPr/>
        <p:txBody>
          <a:bodyPr/>
          <a:lstStyle/>
          <a:p>
            <a:r>
              <a:rPr lang="en-US" dirty="0"/>
              <a:t>Specificity is key.</a:t>
            </a:r>
          </a:p>
        </p:txBody>
      </p:sp>
      <p:sp>
        <p:nvSpPr>
          <p:cNvPr id="3" name="Content Placeholder 2">
            <a:extLst>
              <a:ext uri="{FF2B5EF4-FFF2-40B4-BE49-F238E27FC236}">
                <a16:creationId xmlns:a16="http://schemas.microsoft.com/office/drawing/2014/main" id="{A6690DD9-0B34-0B10-D6F5-5BC969AE2454}"/>
              </a:ext>
            </a:extLst>
          </p:cNvPr>
          <p:cNvSpPr>
            <a:spLocks noGrp="1"/>
          </p:cNvSpPr>
          <p:nvPr>
            <p:ph idx="1"/>
          </p:nvPr>
        </p:nvSpPr>
        <p:spPr/>
        <p:txBody>
          <a:bodyPr>
            <a:normAutofit/>
          </a:bodyPr>
          <a:lstStyle/>
          <a:p>
            <a:r>
              <a:rPr lang="en-US" b="1" dirty="0"/>
              <a:t>Read between the lines </a:t>
            </a:r>
            <a:r>
              <a:rPr lang="en-US" dirty="0"/>
              <a:t>to answer questions and solve problems.</a:t>
            </a:r>
            <a:endParaRPr lang="en-US" b="1" dirty="0"/>
          </a:p>
          <a:p>
            <a:endParaRPr lang="en-US" dirty="0"/>
          </a:p>
          <a:p>
            <a:r>
              <a:rPr lang="en-US" dirty="0"/>
              <a:t>What has been stated to be important?</a:t>
            </a:r>
          </a:p>
          <a:p>
            <a:r>
              <a:rPr lang="en-US" dirty="0"/>
              <a:t>What could be inferred to be important?</a:t>
            </a:r>
          </a:p>
          <a:p>
            <a:r>
              <a:rPr lang="en-US" dirty="0"/>
              <a:t>What has not been explicitly stated, but affects a "good" solution?</a:t>
            </a:r>
          </a:p>
          <a:p>
            <a:endParaRPr lang="en-US" dirty="0"/>
          </a:p>
          <a:p>
            <a:r>
              <a:rPr lang="en-US" dirty="0"/>
              <a:t>This class will have broad questions, but your solutions must be specific.</a:t>
            </a:r>
          </a:p>
        </p:txBody>
      </p:sp>
    </p:spTree>
    <p:extLst>
      <p:ext uri="{BB962C8B-B14F-4D97-AF65-F5344CB8AC3E}">
        <p14:creationId xmlns:p14="http://schemas.microsoft.com/office/powerpoint/2010/main" val="2048901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88DC1-E9CA-8CA6-8415-8AF3042D2DC5}"/>
              </a:ext>
            </a:extLst>
          </p:cNvPr>
          <p:cNvSpPr>
            <a:spLocks noGrp="1"/>
          </p:cNvSpPr>
          <p:nvPr>
            <p:ph type="title"/>
          </p:nvPr>
        </p:nvSpPr>
        <p:spPr/>
        <p:txBody>
          <a:bodyPr/>
          <a:lstStyle/>
          <a:p>
            <a:r>
              <a:rPr lang="en-US" dirty="0"/>
              <a:t>How to get there</a:t>
            </a:r>
          </a:p>
        </p:txBody>
      </p:sp>
      <p:sp>
        <p:nvSpPr>
          <p:cNvPr id="3" name="Content Placeholder 2">
            <a:extLst>
              <a:ext uri="{FF2B5EF4-FFF2-40B4-BE49-F238E27FC236}">
                <a16:creationId xmlns:a16="http://schemas.microsoft.com/office/drawing/2014/main" id="{E9A6DB73-CBAB-DE7A-B41A-BA4027AC9D0F}"/>
              </a:ext>
            </a:extLst>
          </p:cNvPr>
          <p:cNvSpPr>
            <a:spLocks noGrp="1"/>
          </p:cNvSpPr>
          <p:nvPr>
            <p:ph idx="1"/>
          </p:nvPr>
        </p:nvSpPr>
        <p:spPr/>
        <p:txBody>
          <a:bodyPr/>
          <a:lstStyle/>
          <a:p>
            <a:r>
              <a:rPr lang="en-US" dirty="0"/>
              <a:t>Think inside the box.</a:t>
            </a:r>
          </a:p>
          <a:p>
            <a:pPr lvl="1"/>
            <a:r>
              <a:rPr lang="en-US" dirty="0"/>
              <a:t>Apply your known tools.</a:t>
            </a:r>
          </a:p>
          <a:p>
            <a:pPr lvl="1"/>
            <a:r>
              <a:rPr lang="en-US" dirty="0"/>
              <a:t>Try to logically approach the problem with what you know.</a:t>
            </a:r>
          </a:p>
          <a:p>
            <a:r>
              <a:rPr lang="en-US" dirty="0"/>
              <a:t>Think outside the box.</a:t>
            </a:r>
          </a:p>
          <a:p>
            <a:pPr lvl="1"/>
            <a:r>
              <a:rPr lang="en-US" dirty="0"/>
              <a:t>Be close readers: read between the lines.</a:t>
            </a:r>
          </a:p>
          <a:p>
            <a:pPr lvl="1"/>
            <a:r>
              <a:rPr lang="en-US" dirty="0"/>
              <a:t>Investigate, is there another way this could be solved?</a:t>
            </a:r>
          </a:p>
          <a:p>
            <a:pPr lvl="1"/>
            <a:r>
              <a:rPr lang="en-US" dirty="0"/>
              <a:t>Can you structure the problem differently?</a:t>
            </a:r>
          </a:p>
          <a:p>
            <a:pPr lvl="1"/>
            <a:r>
              <a:rPr lang="en-US" dirty="0"/>
              <a:t>Can you shift your perspective?</a:t>
            </a:r>
          </a:p>
          <a:p>
            <a:r>
              <a:rPr lang="en-US" dirty="0"/>
              <a:t>Ultimately, you must use your brain.</a:t>
            </a:r>
          </a:p>
        </p:txBody>
      </p:sp>
    </p:spTree>
    <p:extLst>
      <p:ext uri="{BB962C8B-B14F-4D97-AF65-F5344CB8AC3E}">
        <p14:creationId xmlns:p14="http://schemas.microsoft.com/office/powerpoint/2010/main" val="3209681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5EC58-E2A4-A708-3CC2-3943900CC1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5358DE-63A0-EA93-98B5-D721606DDA5D}"/>
              </a:ext>
            </a:extLst>
          </p:cNvPr>
          <p:cNvSpPr>
            <a:spLocks noGrp="1"/>
          </p:cNvSpPr>
          <p:nvPr>
            <p:ph type="title"/>
          </p:nvPr>
        </p:nvSpPr>
        <p:spPr/>
        <p:txBody>
          <a:bodyPr/>
          <a:lstStyle/>
          <a:p>
            <a:r>
              <a:rPr lang="en-US" dirty="0"/>
              <a:t>There are few wrong answers in this class.</a:t>
            </a:r>
          </a:p>
        </p:txBody>
      </p:sp>
      <p:sp>
        <p:nvSpPr>
          <p:cNvPr id="3" name="Content Placeholder 2">
            <a:extLst>
              <a:ext uri="{FF2B5EF4-FFF2-40B4-BE49-F238E27FC236}">
                <a16:creationId xmlns:a16="http://schemas.microsoft.com/office/drawing/2014/main" id="{904A5899-3C13-1D36-ECF8-C2C51F6D0E50}"/>
              </a:ext>
            </a:extLst>
          </p:cNvPr>
          <p:cNvSpPr>
            <a:spLocks noGrp="1"/>
          </p:cNvSpPr>
          <p:nvPr>
            <p:ph idx="1"/>
          </p:nvPr>
        </p:nvSpPr>
        <p:spPr/>
        <p:txBody>
          <a:bodyPr/>
          <a:lstStyle/>
          <a:p>
            <a:r>
              <a:rPr lang="en-US" dirty="0"/>
              <a:t>…There are simply </a:t>
            </a:r>
            <a:r>
              <a:rPr lang="en-US" i="1" dirty="0"/>
              <a:t>less good </a:t>
            </a:r>
            <a:r>
              <a:rPr lang="en-US" dirty="0"/>
              <a:t>answers.</a:t>
            </a:r>
          </a:p>
          <a:p>
            <a:endParaRPr lang="en-US" dirty="0"/>
          </a:p>
          <a:p>
            <a:pPr marL="0" indent="0">
              <a:buNone/>
            </a:pPr>
            <a:r>
              <a:rPr lang="en-US" dirty="0"/>
              <a:t>…Versus…</a:t>
            </a:r>
          </a:p>
          <a:p>
            <a:pPr marL="0" indent="0">
              <a:buNone/>
            </a:pPr>
            <a:endParaRPr lang="en-US" dirty="0"/>
          </a:p>
          <a:p>
            <a:pPr marL="0" indent="0">
              <a:buNone/>
            </a:pPr>
            <a:r>
              <a:rPr lang="en-US" dirty="0"/>
              <a:t>"An algorithm is an opinion formalized in code."</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4044356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38FE70-F50B-4CF6-4F67-82098898F346}"/>
              </a:ext>
            </a:extLst>
          </p:cNvPr>
          <p:cNvSpPr>
            <a:spLocks noGrp="1"/>
          </p:cNvSpPr>
          <p:nvPr>
            <p:ph type="title"/>
          </p:nvPr>
        </p:nvSpPr>
        <p:spPr/>
        <p:txBody>
          <a:bodyPr/>
          <a:lstStyle/>
          <a:p>
            <a:r>
              <a:rPr lang="en-US" dirty="0"/>
              <a:t>What does "good" mean, anyway?</a:t>
            </a:r>
          </a:p>
        </p:txBody>
      </p:sp>
      <p:sp>
        <p:nvSpPr>
          <p:cNvPr id="5" name="Text Placeholder 4">
            <a:extLst>
              <a:ext uri="{FF2B5EF4-FFF2-40B4-BE49-F238E27FC236}">
                <a16:creationId xmlns:a16="http://schemas.microsoft.com/office/drawing/2014/main" id="{46F55F01-9C9E-37CD-0EFD-CEB56FECE22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909026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E4D06-216C-34B8-9662-C68230AC060E}"/>
              </a:ext>
            </a:extLst>
          </p:cNvPr>
          <p:cNvSpPr>
            <a:spLocks noGrp="1"/>
          </p:cNvSpPr>
          <p:nvPr>
            <p:ph type="title"/>
          </p:nvPr>
        </p:nvSpPr>
        <p:spPr/>
        <p:txBody>
          <a:bodyPr/>
          <a:lstStyle/>
          <a:p>
            <a:r>
              <a:rPr lang="en-US" dirty="0"/>
              <a:t>End of CS 222</a:t>
            </a:r>
          </a:p>
        </p:txBody>
      </p:sp>
      <p:pic>
        <p:nvPicPr>
          <p:cNvPr id="4098" name="Picture 2" descr="A Beginner's Guide to Big O Notation: Understanding ...">
            <a:extLst>
              <a:ext uri="{FF2B5EF4-FFF2-40B4-BE49-F238E27FC236}">
                <a16:creationId xmlns:a16="http://schemas.microsoft.com/office/drawing/2014/main" id="{C1DF14FF-CDDF-A10E-1022-ACEDE7246D0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324599" y="1250627"/>
            <a:ext cx="7542801" cy="5242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83337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7E187-EB48-1C47-68AF-5BC5BB0BB72E}"/>
              </a:ext>
            </a:extLst>
          </p:cNvPr>
          <p:cNvSpPr>
            <a:spLocks noGrp="1"/>
          </p:cNvSpPr>
          <p:nvPr>
            <p:ph type="title"/>
          </p:nvPr>
        </p:nvSpPr>
        <p:spPr/>
        <p:txBody>
          <a:bodyPr/>
          <a:lstStyle/>
          <a:p>
            <a:r>
              <a:rPr lang="en-US" dirty="0"/>
              <a:t>CS 374</a:t>
            </a:r>
          </a:p>
        </p:txBody>
      </p:sp>
      <p:sp>
        <p:nvSpPr>
          <p:cNvPr id="3" name="Content Placeholder 2">
            <a:extLst>
              <a:ext uri="{FF2B5EF4-FFF2-40B4-BE49-F238E27FC236}">
                <a16:creationId xmlns:a16="http://schemas.microsoft.com/office/drawing/2014/main" id="{570F0882-8526-8954-7A18-6C5F8B7BFFCF}"/>
              </a:ext>
            </a:extLst>
          </p:cNvPr>
          <p:cNvSpPr>
            <a:spLocks noGrp="1"/>
          </p:cNvSpPr>
          <p:nvPr>
            <p:ph idx="1"/>
          </p:nvPr>
        </p:nvSpPr>
        <p:spPr/>
        <p:txBody>
          <a:bodyPr/>
          <a:lstStyle/>
          <a:p>
            <a:endParaRPr lang="en-US"/>
          </a:p>
        </p:txBody>
      </p:sp>
      <p:pic>
        <p:nvPicPr>
          <p:cNvPr id="5122" name="Picture 2" descr="Complexity | Asymptotic Analysis. · What exactly does big Ө notation… | by  Tarun Jain | Medium">
            <a:extLst>
              <a:ext uri="{FF2B5EF4-FFF2-40B4-BE49-F238E27FC236}">
                <a16:creationId xmlns:a16="http://schemas.microsoft.com/office/drawing/2014/main" id="{DA8DE03B-4342-0D16-D0A3-64F0FADF10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78688"/>
            <a:ext cx="12192000" cy="3900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17044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7C5FE-38F9-4631-10F1-E1A48E69DA9E}"/>
              </a:ext>
            </a:extLst>
          </p:cNvPr>
          <p:cNvSpPr>
            <a:spLocks noGrp="1"/>
          </p:cNvSpPr>
          <p:nvPr>
            <p:ph type="title"/>
          </p:nvPr>
        </p:nvSpPr>
        <p:spPr/>
        <p:txBody>
          <a:bodyPr/>
          <a:lstStyle/>
          <a:p>
            <a:r>
              <a:rPr lang="en-US" dirty="0"/>
              <a:t>In Comparison</a:t>
            </a:r>
          </a:p>
        </p:txBody>
      </p:sp>
      <p:sp>
        <p:nvSpPr>
          <p:cNvPr id="3" name="Content Placeholder 2">
            <a:extLst>
              <a:ext uri="{FF2B5EF4-FFF2-40B4-BE49-F238E27FC236}">
                <a16:creationId xmlns:a16="http://schemas.microsoft.com/office/drawing/2014/main" id="{6C9F533C-84DC-3617-9D3D-DDA6237476FE}"/>
              </a:ext>
            </a:extLst>
          </p:cNvPr>
          <p:cNvSpPr>
            <a:spLocks noGrp="1"/>
          </p:cNvSpPr>
          <p:nvPr>
            <p:ph idx="1"/>
          </p:nvPr>
        </p:nvSpPr>
        <p:spPr/>
        <p:txBody>
          <a:bodyPr/>
          <a:lstStyle/>
          <a:p>
            <a:r>
              <a:rPr lang="en-US" dirty="0"/>
              <a:t>You submit an answer,			correct </a:t>
            </a:r>
            <a:r>
              <a:rPr lang="en-US" dirty="0">
                <a:sym typeface="Wingdings" pitchFamily="2" charset="2"/>
              </a:rPr>
              <a:t> It's slow</a:t>
            </a:r>
          </a:p>
          <a:p>
            <a:r>
              <a:rPr lang="en-US" dirty="0">
                <a:sym typeface="Wingdings" pitchFamily="2" charset="2"/>
              </a:rPr>
              <a:t>Your neighbor submits an answer, 	correct  Much faster </a:t>
            </a:r>
            <a:endParaRPr lang="en-US" dirty="0"/>
          </a:p>
          <a:p>
            <a:endParaRPr lang="en-US" dirty="0"/>
          </a:p>
          <a:p>
            <a:r>
              <a:rPr lang="en-US" dirty="0"/>
              <a:t>You get less points</a:t>
            </a:r>
          </a:p>
          <a:p>
            <a:r>
              <a:rPr lang="en-US" dirty="0"/>
              <a:t>Neighbor gets most of the points</a:t>
            </a:r>
          </a:p>
          <a:p>
            <a:endParaRPr lang="en-US" dirty="0"/>
          </a:p>
          <a:p>
            <a:r>
              <a:rPr lang="en-US" dirty="0"/>
              <a:t>Your answer's not technically </a:t>
            </a:r>
            <a:r>
              <a:rPr lang="en-US" i="1" dirty="0"/>
              <a:t>wrong</a:t>
            </a:r>
            <a:r>
              <a:rPr lang="en-US" dirty="0"/>
              <a:t>, just not as good as it could have been.</a:t>
            </a:r>
          </a:p>
        </p:txBody>
      </p:sp>
    </p:spTree>
    <p:extLst>
      <p:ext uri="{BB962C8B-B14F-4D97-AF65-F5344CB8AC3E}">
        <p14:creationId xmlns:p14="http://schemas.microsoft.com/office/powerpoint/2010/main" val="573279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B6B68-238A-14DC-5D96-53A463DCD16C}"/>
              </a:ext>
            </a:extLst>
          </p:cNvPr>
          <p:cNvSpPr>
            <a:spLocks noGrp="1"/>
          </p:cNvSpPr>
          <p:nvPr>
            <p:ph type="title"/>
          </p:nvPr>
        </p:nvSpPr>
        <p:spPr/>
        <p:txBody>
          <a:bodyPr/>
          <a:lstStyle/>
          <a:p>
            <a:r>
              <a:rPr lang="en-US" dirty="0"/>
              <a:t>A warning</a:t>
            </a:r>
          </a:p>
        </p:txBody>
      </p:sp>
      <p:sp>
        <p:nvSpPr>
          <p:cNvPr id="3" name="Content Placeholder 2">
            <a:extLst>
              <a:ext uri="{FF2B5EF4-FFF2-40B4-BE49-F238E27FC236}">
                <a16:creationId xmlns:a16="http://schemas.microsoft.com/office/drawing/2014/main" id="{60D47C28-DD11-9605-DF6D-786DD12114E7}"/>
              </a:ext>
            </a:extLst>
          </p:cNvPr>
          <p:cNvSpPr>
            <a:spLocks noGrp="1"/>
          </p:cNvSpPr>
          <p:nvPr>
            <p:ph idx="1"/>
          </p:nvPr>
        </p:nvSpPr>
        <p:spPr/>
        <p:txBody>
          <a:bodyPr/>
          <a:lstStyle/>
          <a:p>
            <a:r>
              <a:rPr lang="en-US" dirty="0"/>
              <a:t>Your answers must be </a:t>
            </a:r>
            <a:r>
              <a:rPr lang="en-US" b="1" dirty="0"/>
              <a:t>correct…</a:t>
            </a:r>
            <a:endParaRPr lang="en-US" dirty="0"/>
          </a:p>
          <a:p>
            <a:r>
              <a:rPr lang="en-US" dirty="0"/>
              <a:t>And they must be </a:t>
            </a:r>
            <a:r>
              <a:rPr lang="en-US" b="1" dirty="0"/>
              <a:t>efficient.</a:t>
            </a:r>
            <a:endParaRPr lang="en-US" dirty="0"/>
          </a:p>
          <a:p>
            <a:endParaRPr lang="en-US" dirty="0"/>
          </a:p>
          <a:p>
            <a:r>
              <a:rPr lang="en-US" dirty="0"/>
              <a:t>Solutions that differ from mine, but get the job done adequately, in the targeted efficiency range, will get most of the points.</a:t>
            </a:r>
          </a:p>
        </p:txBody>
      </p:sp>
    </p:spTree>
    <p:extLst>
      <p:ext uri="{BB962C8B-B14F-4D97-AF65-F5344CB8AC3E}">
        <p14:creationId xmlns:p14="http://schemas.microsoft.com/office/powerpoint/2010/main" val="2027298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FD003-2F4D-0C88-20AC-179AF7FEF141}"/>
              </a:ext>
            </a:extLst>
          </p:cNvPr>
          <p:cNvSpPr>
            <a:spLocks noGrp="1"/>
          </p:cNvSpPr>
          <p:nvPr>
            <p:ph type="title"/>
          </p:nvPr>
        </p:nvSpPr>
        <p:spPr/>
        <p:txBody>
          <a:bodyPr/>
          <a:lstStyle/>
          <a:p>
            <a:r>
              <a:rPr lang="en-US" dirty="0"/>
              <a:t>Okay, convince me!</a:t>
            </a:r>
          </a:p>
        </p:txBody>
      </p:sp>
      <p:sp>
        <p:nvSpPr>
          <p:cNvPr id="3" name="Text Placeholder 2">
            <a:extLst>
              <a:ext uri="{FF2B5EF4-FFF2-40B4-BE49-F238E27FC236}">
                <a16:creationId xmlns:a16="http://schemas.microsoft.com/office/drawing/2014/main" id="{DB4B84B3-F111-736A-922E-BBBBE118C47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698059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55070-87C7-6A2B-F399-B72A8565A0F6}"/>
              </a:ext>
            </a:extLst>
          </p:cNvPr>
          <p:cNvSpPr>
            <a:spLocks noGrp="1"/>
          </p:cNvSpPr>
          <p:nvPr>
            <p:ph type="title"/>
          </p:nvPr>
        </p:nvSpPr>
        <p:spPr/>
        <p:txBody>
          <a:bodyPr/>
          <a:lstStyle/>
          <a:p>
            <a:r>
              <a:rPr lang="en-US" dirty="0"/>
              <a:t>This is not (quite) a writing class</a:t>
            </a:r>
          </a:p>
        </p:txBody>
      </p:sp>
      <p:sp>
        <p:nvSpPr>
          <p:cNvPr id="3" name="Content Placeholder 2">
            <a:extLst>
              <a:ext uri="{FF2B5EF4-FFF2-40B4-BE49-F238E27FC236}">
                <a16:creationId xmlns:a16="http://schemas.microsoft.com/office/drawing/2014/main" id="{D1305D8A-5578-B319-DF71-7D9198F91640}"/>
              </a:ext>
            </a:extLst>
          </p:cNvPr>
          <p:cNvSpPr>
            <a:spLocks noGrp="1"/>
          </p:cNvSpPr>
          <p:nvPr>
            <p:ph idx="1"/>
          </p:nvPr>
        </p:nvSpPr>
        <p:spPr/>
        <p:txBody>
          <a:bodyPr/>
          <a:lstStyle/>
          <a:p>
            <a:r>
              <a:rPr lang="en-US" dirty="0"/>
              <a:t>It is a crucible.</a:t>
            </a:r>
          </a:p>
          <a:p>
            <a:endParaRPr lang="en-US" dirty="0"/>
          </a:p>
          <a:p>
            <a:r>
              <a:rPr lang="en-US" dirty="0"/>
              <a:t>You will practice writing and presenting code.</a:t>
            </a:r>
          </a:p>
          <a:p>
            <a:r>
              <a:rPr lang="en-US" dirty="0"/>
              <a:t>You will practice writing and presenting algorithms.</a:t>
            </a:r>
          </a:p>
          <a:p>
            <a:endParaRPr lang="en-US" dirty="0"/>
          </a:p>
          <a:p>
            <a:endParaRPr lang="en-US" dirty="0"/>
          </a:p>
        </p:txBody>
      </p:sp>
    </p:spTree>
    <p:extLst>
      <p:ext uri="{BB962C8B-B14F-4D97-AF65-F5344CB8AC3E}">
        <p14:creationId xmlns:p14="http://schemas.microsoft.com/office/powerpoint/2010/main" val="37982793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B88AB-4227-4B43-44F8-010A6E46F24E}"/>
              </a:ext>
            </a:extLst>
          </p:cNvPr>
          <p:cNvSpPr>
            <a:spLocks noGrp="1"/>
          </p:cNvSpPr>
          <p:nvPr>
            <p:ph type="title"/>
          </p:nvPr>
        </p:nvSpPr>
        <p:spPr/>
        <p:txBody>
          <a:bodyPr/>
          <a:lstStyle/>
          <a:p>
            <a:r>
              <a:rPr lang="en-US" dirty="0"/>
              <a:t>Why bother with writing and presentations?</a:t>
            </a:r>
          </a:p>
        </p:txBody>
      </p:sp>
      <p:sp>
        <p:nvSpPr>
          <p:cNvPr id="3" name="Content Placeholder 2">
            <a:extLst>
              <a:ext uri="{FF2B5EF4-FFF2-40B4-BE49-F238E27FC236}">
                <a16:creationId xmlns:a16="http://schemas.microsoft.com/office/drawing/2014/main" id="{36F8252F-D33D-596C-63C5-5A38290C8335}"/>
              </a:ext>
            </a:extLst>
          </p:cNvPr>
          <p:cNvSpPr>
            <a:spLocks noGrp="1"/>
          </p:cNvSpPr>
          <p:nvPr>
            <p:ph idx="1"/>
          </p:nvPr>
        </p:nvSpPr>
        <p:spPr/>
        <p:txBody>
          <a:bodyPr/>
          <a:lstStyle/>
          <a:p>
            <a:r>
              <a:rPr lang="en-US" dirty="0"/>
              <a:t>The goal of this class is for you to understand the workings of algorithms. </a:t>
            </a:r>
          </a:p>
          <a:p>
            <a:r>
              <a:rPr lang="en-US" dirty="0"/>
              <a:t>It's important to know how to implement things. </a:t>
            </a:r>
          </a:p>
          <a:p>
            <a:r>
              <a:rPr lang="en-US" dirty="0"/>
              <a:t>But in industry and elsewhere, it's not </a:t>
            </a:r>
            <a:r>
              <a:rPr lang="en-US" i="1" dirty="0"/>
              <a:t>just</a:t>
            </a:r>
            <a:r>
              <a:rPr lang="en-US" dirty="0"/>
              <a:t> the code you write. </a:t>
            </a:r>
          </a:p>
          <a:p>
            <a:r>
              <a:rPr lang="en-US" dirty="0"/>
              <a:t>It's also your ability to explain it to peers, managers, and people with no prior knowledge. </a:t>
            </a:r>
          </a:p>
          <a:p>
            <a:pPr lvl="1"/>
            <a:r>
              <a:rPr lang="en-US" dirty="0"/>
              <a:t>Succinctly explain</a:t>
            </a:r>
          </a:p>
          <a:p>
            <a:pPr lvl="1"/>
            <a:r>
              <a:rPr lang="en-US" dirty="0"/>
              <a:t>Determine what to include, what not to include.</a:t>
            </a:r>
          </a:p>
        </p:txBody>
      </p:sp>
    </p:spTree>
    <p:extLst>
      <p:ext uri="{BB962C8B-B14F-4D97-AF65-F5344CB8AC3E}">
        <p14:creationId xmlns:p14="http://schemas.microsoft.com/office/powerpoint/2010/main" val="2985787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111F7-B225-997B-EC79-1DED1730416C}"/>
              </a:ext>
            </a:extLst>
          </p:cNvPr>
          <p:cNvSpPr>
            <a:spLocks noGrp="1"/>
          </p:cNvSpPr>
          <p:nvPr>
            <p:ph type="title"/>
          </p:nvPr>
        </p:nvSpPr>
        <p:spPr/>
        <p:txBody>
          <a:bodyPr/>
          <a:lstStyle/>
          <a:p>
            <a:r>
              <a:rPr lang="en-US" dirty="0"/>
              <a:t>This sucks. It's a lot of work.</a:t>
            </a:r>
          </a:p>
        </p:txBody>
      </p:sp>
      <p:sp>
        <p:nvSpPr>
          <p:cNvPr id="3" name="Content Placeholder 2">
            <a:extLst>
              <a:ext uri="{FF2B5EF4-FFF2-40B4-BE49-F238E27FC236}">
                <a16:creationId xmlns:a16="http://schemas.microsoft.com/office/drawing/2014/main" id="{36FEB4BE-390B-2B75-9698-D421280C5AF0}"/>
              </a:ext>
            </a:extLst>
          </p:cNvPr>
          <p:cNvSpPr>
            <a:spLocks noGrp="1"/>
          </p:cNvSpPr>
          <p:nvPr>
            <p:ph idx="1"/>
          </p:nvPr>
        </p:nvSpPr>
        <p:spPr/>
        <p:txBody>
          <a:bodyPr/>
          <a:lstStyle/>
          <a:p>
            <a:r>
              <a:rPr lang="en-US" dirty="0"/>
              <a:t>Yes, but that's learning.</a:t>
            </a:r>
          </a:p>
          <a:p>
            <a:r>
              <a:rPr lang="en-US" dirty="0"/>
              <a:t>Stretch yourself to do things you are unfamiliar with.</a:t>
            </a:r>
          </a:p>
          <a:p>
            <a:endParaRPr lang="en-US" dirty="0"/>
          </a:p>
        </p:txBody>
      </p:sp>
    </p:spTree>
    <p:extLst>
      <p:ext uri="{BB962C8B-B14F-4D97-AF65-F5344CB8AC3E}">
        <p14:creationId xmlns:p14="http://schemas.microsoft.com/office/powerpoint/2010/main" val="16484313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7AB81-439F-3ACA-A557-5CDF893D1B02}"/>
              </a:ext>
            </a:extLst>
          </p:cNvPr>
          <p:cNvSpPr>
            <a:spLocks noGrp="1"/>
          </p:cNvSpPr>
          <p:nvPr>
            <p:ph type="title"/>
          </p:nvPr>
        </p:nvSpPr>
        <p:spPr/>
        <p:txBody>
          <a:bodyPr/>
          <a:lstStyle/>
          <a:p>
            <a:r>
              <a:rPr lang="en-US" dirty="0"/>
              <a:t>What's a "good" answer?</a:t>
            </a:r>
          </a:p>
        </p:txBody>
      </p:sp>
      <p:sp>
        <p:nvSpPr>
          <p:cNvPr id="3" name="Content Placeholder 2">
            <a:extLst>
              <a:ext uri="{FF2B5EF4-FFF2-40B4-BE49-F238E27FC236}">
                <a16:creationId xmlns:a16="http://schemas.microsoft.com/office/drawing/2014/main" id="{E600D759-1EEA-003A-98D1-DA7CA40402F7}"/>
              </a:ext>
            </a:extLst>
          </p:cNvPr>
          <p:cNvSpPr>
            <a:spLocks noGrp="1"/>
          </p:cNvSpPr>
          <p:nvPr>
            <p:ph idx="1"/>
          </p:nvPr>
        </p:nvSpPr>
        <p:spPr/>
        <p:txBody>
          <a:bodyPr/>
          <a:lstStyle/>
          <a:p>
            <a:r>
              <a:rPr lang="en-US" dirty="0"/>
              <a:t>Technical components, yes…</a:t>
            </a:r>
          </a:p>
          <a:p>
            <a:r>
              <a:rPr lang="en-US" dirty="0"/>
              <a:t>…also explaining it.</a:t>
            </a:r>
          </a:p>
          <a:p>
            <a:endParaRPr lang="en-US" b="1" dirty="0"/>
          </a:p>
        </p:txBody>
      </p:sp>
      <p:pic>
        <p:nvPicPr>
          <p:cNvPr id="6146" name="Picture 2" descr="Communication SpongeBob meme">
            <a:extLst>
              <a:ext uri="{FF2B5EF4-FFF2-40B4-BE49-F238E27FC236}">
                <a16:creationId xmlns:a16="http://schemas.microsoft.com/office/drawing/2014/main" id="{E2DF4242-48DC-CA10-2069-BDD4C77FDD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6091" y="3309257"/>
            <a:ext cx="4339817" cy="35487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5154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07405-564E-60FF-DB6A-F880554DD4BA}"/>
              </a:ext>
            </a:extLst>
          </p:cNvPr>
          <p:cNvSpPr>
            <a:spLocks noGrp="1"/>
          </p:cNvSpPr>
          <p:nvPr>
            <p:ph type="title"/>
          </p:nvPr>
        </p:nvSpPr>
        <p:spPr/>
        <p:txBody>
          <a:bodyPr/>
          <a:lstStyle/>
          <a:p>
            <a:r>
              <a:rPr lang="en-US" dirty="0"/>
              <a:t>How to communicate effectively</a:t>
            </a:r>
          </a:p>
        </p:txBody>
      </p:sp>
      <p:sp>
        <p:nvSpPr>
          <p:cNvPr id="3" name="Content Placeholder 2">
            <a:extLst>
              <a:ext uri="{FF2B5EF4-FFF2-40B4-BE49-F238E27FC236}">
                <a16:creationId xmlns:a16="http://schemas.microsoft.com/office/drawing/2014/main" id="{48493DDA-B84B-5AA3-20FA-2FCBBDB453CC}"/>
              </a:ext>
            </a:extLst>
          </p:cNvPr>
          <p:cNvSpPr>
            <a:spLocks noGrp="1"/>
          </p:cNvSpPr>
          <p:nvPr>
            <p:ph idx="1"/>
          </p:nvPr>
        </p:nvSpPr>
        <p:spPr/>
        <p:txBody>
          <a:bodyPr>
            <a:normAutofit fontScale="92500" lnSpcReduction="20000"/>
          </a:bodyPr>
          <a:lstStyle/>
          <a:p>
            <a:r>
              <a:rPr lang="en-US" dirty="0"/>
              <a:t>Be concise.</a:t>
            </a:r>
          </a:p>
          <a:p>
            <a:pPr lvl="1"/>
            <a:r>
              <a:rPr lang="en-US" dirty="0"/>
              <a:t>Simple sentences. Nothing superfluous, nothing over-explained or under-explained. </a:t>
            </a:r>
          </a:p>
          <a:p>
            <a:r>
              <a:rPr lang="en-US" dirty="0"/>
              <a:t>Be specific.</a:t>
            </a:r>
          </a:p>
          <a:p>
            <a:pPr lvl="1"/>
            <a:r>
              <a:rPr lang="en-US" dirty="0"/>
              <a:t>Know your audience: be prepared to answer any questions you think they might have. </a:t>
            </a:r>
          </a:p>
          <a:p>
            <a:pPr lvl="1"/>
            <a:r>
              <a:rPr lang="en-US" dirty="0"/>
              <a:t>Clearly transition to each step of your explanation. </a:t>
            </a:r>
          </a:p>
          <a:p>
            <a:pPr lvl="1"/>
            <a:r>
              <a:rPr lang="en-US" dirty="0"/>
              <a:t>If you skip any steps, you do so with reasonable </a:t>
            </a:r>
            <a:r>
              <a:rPr lang="en-US" dirty="0" err="1"/>
              <a:t>knowlege</a:t>
            </a:r>
            <a:r>
              <a:rPr lang="en-US" dirty="0"/>
              <a:t> that they are trivial. </a:t>
            </a:r>
          </a:p>
          <a:p>
            <a:r>
              <a:rPr lang="en-US" dirty="0"/>
              <a:t>Present well.</a:t>
            </a:r>
          </a:p>
          <a:p>
            <a:pPr lvl="1"/>
            <a:r>
              <a:rPr lang="en-US" dirty="0"/>
              <a:t>Proofread so there are no typos or incomplete sentences. </a:t>
            </a:r>
          </a:p>
          <a:p>
            <a:pPr lvl="1"/>
            <a:r>
              <a:rPr lang="en-US" dirty="0"/>
              <a:t>Present it nice and not messy.</a:t>
            </a:r>
          </a:p>
          <a:p>
            <a:pPr lvl="1"/>
            <a:r>
              <a:rPr lang="en-US" dirty="0"/>
              <a:t>Read aloud any sentences with code or math so that it flows. </a:t>
            </a:r>
          </a:p>
          <a:p>
            <a:pPr lvl="1"/>
            <a:r>
              <a:rPr lang="en-US" dirty="0"/>
              <a:t>(if giving a presentation) Dress professionally.</a:t>
            </a:r>
          </a:p>
        </p:txBody>
      </p:sp>
    </p:spTree>
    <p:extLst>
      <p:ext uri="{BB962C8B-B14F-4D97-AF65-F5344CB8AC3E}">
        <p14:creationId xmlns:p14="http://schemas.microsoft.com/office/powerpoint/2010/main" val="4264869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D725F-AEA0-2E4E-0C2F-31344C05AEAB}"/>
              </a:ext>
            </a:extLst>
          </p:cNvPr>
          <p:cNvSpPr>
            <a:spLocks noGrp="1"/>
          </p:cNvSpPr>
          <p:nvPr>
            <p:ph type="title"/>
          </p:nvPr>
        </p:nvSpPr>
        <p:spPr/>
        <p:txBody>
          <a:bodyPr/>
          <a:lstStyle/>
          <a:p>
            <a:r>
              <a:rPr lang="en-US" dirty="0"/>
              <a:t>How to get there: Study Tips</a:t>
            </a:r>
          </a:p>
        </p:txBody>
      </p:sp>
      <p:sp>
        <p:nvSpPr>
          <p:cNvPr id="3" name="Content Placeholder 2">
            <a:extLst>
              <a:ext uri="{FF2B5EF4-FFF2-40B4-BE49-F238E27FC236}">
                <a16:creationId xmlns:a16="http://schemas.microsoft.com/office/drawing/2014/main" id="{D7F6AAA9-48D3-F87E-ACA9-B94579336D38}"/>
              </a:ext>
            </a:extLst>
          </p:cNvPr>
          <p:cNvSpPr>
            <a:spLocks noGrp="1"/>
          </p:cNvSpPr>
          <p:nvPr>
            <p:ph idx="1"/>
          </p:nvPr>
        </p:nvSpPr>
        <p:spPr>
          <a:xfrm>
            <a:off x="838200" y="1825625"/>
            <a:ext cx="10515600" cy="4667250"/>
          </a:xfrm>
        </p:spPr>
        <p:txBody>
          <a:bodyPr>
            <a:normAutofit fontScale="92500" lnSpcReduction="10000"/>
          </a:bodyPr>
          <a:lstStyle/>
          <a:p>
            <a:r>
              <a:rPr lang="en-US" dirty="0"/>
              <a:t>Get your ideas down on paper.</a:t>
            </a:r>
          </a:p>
          <a:p>
            <a:r>
              <a:rPr lang="en-US" dirty="0"/>
              <a:t>DO NOT turn that version in.</a:t>
            </a:r>
          </a:p>
          <a:p>
            <a:r>
              <a:rPr lang="en-US" dirty="0"/>
              <a:t>Take a (brief) break. Walk down the hallway and back.</a:t>
            </a:r>
          </a:p>
          <a:p>
            <a:r>
              <a:rPr lang="en-US" dirty="0"/>
              <a:t>Sit down and read it aloud. Explain it to a rubber duck, or your favorite stuffed animal. Explain it to your roommate, your parent, your housemate. </a:t>
            </a:r>
          </a:p>
          <a:p>
            <a:r>
              <a:rPr lang="en-US" dirty="0"/>
              <a:t>They probably don't understand it. Assuming they understand all the preliminaries, figure out which most important parts they don't understand. </a:t>
            </a:r>
          </a:p>
          <a:p>
            <a:r>
              <a:rPr lang="en-US" dirty="0"/>
              <a:t>Go to the writing center. </a:t>
            </a:r>
          </a:p>
          <a:p>
            <a:r>
              <a:rPr lang="en-US" dirty="0"/>
              <a:t>Revise it.</a:t>
            </a:r>
          </a:p>
        </p:txBody>
      </p:sp>
    </p:spTree>
    <p:extLst>
      <p:ext uri="{BB962C8B-B14F-4D97-AF65-F5344CB8AC3E}">
        <p14:creationId xmlns:p14="http://schemas.microsoft.com/office/powerpoint/2010/main" val="3367835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0AB58-AAFC-A3D3-9178-D064F275CE7B}"/>
              </a:ext>
            </a:extLst>
          </p:cNvPr>
          <p:cNvSpPr>
            <a:spLocks noGrp="1"/>
          </p:cNvSpPr>
          <p:nvPr>
            <p:ph type="title"/>
          </p:nvPr>
        </p:nvSpPr>
        <p:spPr/>
        <p:txBody>
          <a:bodyPr/>
          <a:lstStyle/>
          <a:p>
            <a:r>
              <a:rPr lang="en-US" dirty="0"/>
              <a:t>Where to go from here?</a:t>
            </a:r>
          </a:p>
        </p:txBody>
      </p:sp>
      <p:sp>
        <p:nvSpPr>
          <p:cNvPr id="3" name="Content Placeholder 2">
            <a:extLst>
              <a:ext uri="{FF2B5EF4-FFF2-40B4-BE49-F238E27FC236}">
                <a16:creationId xmlns:a16="http://schemas.microsoft.com/office/drawing/2014/main" id="{2D7602F2-0CEA-6ED4-0A98-878BC41E946C}"/>
              </a:ext>
            </a:extLst>
          </p:cNvPr>
          <p:cNvSpPr>
            <a:spLocks noGrp="1"/>
          </p:cNvSpPr>
          <p:nvPr>
            <p:ph idx="1"/>
          </p:nvPr>
        </p:nvSpPr>
        <p:spPr/>
        <p:txBody>
          <a:bodyPr/>
          <a:lstStyle/>
          <a:p>
            <a:r>
              <a:rPr lang="en-US" dirty="0"/>
              <a:t>"An algorithm is an opinion formalized in code."</a:t>
            </a:r>
          </a:p>
          <a:p>
            <a:r>
              <a:rPr lang="en-US" dirty="0"/>
              <a:t>There are few wrong answers in this class…there are simply </a:t>
            </a:r>
            <a:r>
              <a:rPr lang="en-US" i="1" dirty="0"/>
              <a:t>less good </a:t>
            </a:r>
            <a:r>
              <a:rPr lang="en-US" dirty="0"/>
              <a:t>answers.</a:t>
            </a:r>
          </a:p>
          <a:p>
            <a:endParaRPr lang="en-US" dirty="0"/>
          </a:p>
          <a:p>
            <a:endParaRPr lang="en-US" dirty="0"/>
          </a:p>
        </p:txBody>
      </p:sp>
    </p:spTree>
    <p:extLst>
      <p:ext uri="{BB962C8B-B14F-4D97-AF65-F5344CB8AC3E}">
        <p14:creationId xmlns:p14="http://schemas.microsoft.com/office/powerpoint/2010/main" val="4472062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3FF3A-FE09-FEA4-C7ED-1D6D44316E15}"/>
              </a:ext>
            </a:extLst>
          </p:cNvPr>
          <p:cNvSpPr>
            <a:spLocks noGrp="1"/>
          </p:cNvSpPr>
          <p:nvPr>
            <p:ph type="title"/>
          </p:nvPr>
        </p:nvSpPr>
        <p:spPr/>
        <p:txBody>
          <a:bodyPr/>
          <a:lstStyle/>
          <a:p>
            <a:r>
              <a:rPr lang="en-US" dirty="0"/>
              <a:t>Methods of Evaluation</a:t>
            </a:r>
          </a:p>
        </p:txBody>
      </p:sp>
      <p:sp>
        <p:nvSpPr>
          <p:cNvPr id="3" name="Text Placeholder 2">
            <a:extLst>
              <a:ext uri="{FF2B5EF4-FFF2-40B4-BE49-F238E27FC236}">
                <a16:creationId xmlns:a16="http://schemas.microsoft.com/office/drawing/2014/main" id="{109A5C8D-D339-F3C7-0CAE-DD46F8F85B8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618131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A9358-9063-845F-6C54-37BBB8271A8A}"/>
              </a:ext>
            </a:extLst>
          </p:cNvPr>
          <p:cNvSpPr>
            <a:spLocks noGrp="1"/>
          </p:cNvSpPr>
          <p:nvPr>
            <p:ph type="title"/>
          </p:nvPr>
        </p:nvSpPr>
        <p:spPr/>
        <p:txBody>
          <a:bodyPr/>
          <a:lstStyle/>
          <a:p>
            <a:r>
              <a:rPr lang="en-US" dirty="0"/>
              <a:t>Exemplar Rubric: "Give me an algorithm…"</a:t>
            </a:r>
          </a:p>
        </p:txBody>
      </p:sp>
      <p:sp>
        <p:nvSpPr>
          <p:cNvPr id="3" name="Content Placeholder 2">
            <a:extLst>
              <a:ext uri="{FF2B5EF4-FFF2-40B4-BE49-F238E27FC236}">
                <a16:creationId xmlns:a16="http://schemas.microsoft.com/office/drawing/2014/main" id="{A137A9D2-108E-6257-45A8-FED791DF693C}"/>
              </a:ext>
            </a:extLst>
          </p:cNvPr>
          <p:cNvSpPr>
            <a:spLocks noGrp="1"/>
          </p:cNvSpPr>
          <p:nvPr>
            <p:ph idx="1"/>
          </p:nvPr>
        </p:nvSpPr>
        <p:spPr/>
        <p:txBody>
          <a:bodyPr>
            <a:normAutofit/>
          </a:bodyPr>
          <a:lstStyle/>
          <a:p>
            <a:r>
              <a:rPr lang="en-US" dirty="0"/>
              <a:t>Efficiency of solution</a:t>
            </a:r>
          </a:p>
          <a:p>
            <a:pPr lvl="1"/>
            <a:r>
              <a:rPr lang="en-US" dirty="0"/>
              <a:t>The proposed solution is completely efficient. There is no possibility of a better implementation. </a:t>
            </a:r>
          </a:p>
          <a:p>
            <a:r>
              <a:rPr lang="en-US" dirty="0"/>
              <a:t>Completeness of solution</a:t>
            </a:r>
          </a:p>
          <a:p>
            <a:pPr lvl="1"/>
            <a:r>
              <a:rPr lang="en-US" dirty="0"/>
              <a:t>The proposed solution is complete. Every edge case is considered. There are no cases the writer forgot to consider. Given any possible correct input, the output will be produced as described.</a:t>
            </a:r>
          </a:p>
          <a:p>
            <a:r>
              <a:rPr lang="en-US" dirty="0"/>
              <a:t>Generality of solution</a:t>
            </a:r>
          </a:p>
          <a:p>
            <a:pPr lvl="1"/>
            <a:r>
              <a:rPr lang="en-US" dirty="0"/>
              <a:t>The proposed solution is specified with what counts as valid arguments. It will correctly apply to any given arguments, so long as they are valid.</a:t>
            </a:r>
          </a:p>
          <a:p>
            <a:endParaRPr lang="en-US" dirty="0"/>
          </a:p>
        </p:txBody>
      </p:sp>
    </p:spTree>
    <p:extLst>
      <p:ext uri="{BB962C8B-B14F-4D97-AF65-F5344CB8AC3E}">
        <p14:creationId xmlns:p14="http://schemas.microsoft.com/office/powerpoint/2010/main" val="334653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F952C-810A-8842-29C3-7385839509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42870A-E4AE-F209-2B55-3C364E9A6B51}"/>
              </a:ext>
            </a:extLst>
          </p:cNvPr>
          <p:cNvSpPr>
            <a:spLocks noGrp="1"/>
          </p:cNvSpPr>
          <p:nvPr>
            <p:ph type="title"/>
          </p:nvPr>
        </p:nvSpPr>
        <p:spPr/>
        <p:txBody>
          <a:bodyPr/>
          <a:lstStyle/>
          <a:p>
            <a:r>
              <a:rPr lang="en-US" dirty="0"/>
              <a:t>Exemplar Rubric, cont'd</a:t>
            </a:r>
          </a:p>
        </p:txBody>
      </p:sp>
      <p:sp>
        <p:nvSpPr>
          <p:cNvPr id="3" name="Content Placeholder 2">
            <a:extLst>
              <a:ext uri="{FF2B5EF4-FFF2-40B4-BE49-F238E27FC236}">
                <a16:creationId xmlns:a16="http://schemas.microsoft.com/office/drawing/2014/main" id="{2BC81893-B40B-C7C9-DAB1-5DC0F57A9DF6}"/>
              </a:ext>
            </a:extLst>
          </p:cNvPr>
          <p:cNvSpPr>
            <a:spLocks noGrp="1"/>
          </p:cNvSpPr>
          <p:nvPr>
            <p:ph idx="1"/>
          </p:nvPr>
        </p:nvSpPr>
        <p:spPr/>
        <p:txBody>
          <a:bodyPr>
            <a:normAutofit/>
          </a:bodyPr>
          <a:lstStyle/>
          <a:p>
            <a:r>
              <a:rPr lang="en-US" dirty="0"/>
              <a:t>Conciseness of writing</a:t>
            </a:r>
          </a:p>
          <a:p>
            <a:pPr lvl="1"/>
            <a:r>
              <a:rPr lang="en-US" dirty="0"/>
              <a:t>Writing is perfectly concise. There are no superfluous words and nothing is over-explained. </a:t>
            </a:r>
          </a:p>
          <a:p>
            <a:r>
              <a:rPr lang="en-US" dirty="0"/>
              <a:t>Specificity of writing</a:t>
            </a:r>
          </a:p>
          <a:p>
            <a:pPr lvl="1"/>
            <a:r>
              <a:rPr lang="en-US" dirty="0"/>
              <a:t>Solution is perfectly specific; there are no questions that should be additionally answered. Transitions are clear. If there are any skipped steps, they are clearly understood to be trivially inferred by the reader. </a:t>
            </a:r>
          </a:p>
          <a:p>
            <a:r>
              <a:rPr lang="en-US" dirty="0"/>
              <a:t>Presentation of writing</a:t>
            </a:r>
          </a:p>
          <a:p>
            <a:pPr lvl="1"/>
            <a:r>
              <a:rPr lang="en-US" dirty="0"/>
              <a:t>There are no typos in the proposed solution. The layout is not messy. All sentences are complete. Any math or code descriptions present flows cleanly with explanations.</a:t>
            </a:r>
          </a:p>
        </p:txBody>
      </p:sp>
    </p:spTree>
    <p:extLst>
      <p:ext uri="{BB962C8B-B14F-4D97-AF65-F5344CB8AC3E}">
        <p14:creationId xmlns:p14="http://schemas.microsoft.com/office/powerpoint/2010/main" val="2716628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EADE1-8E65-389D-095C-86014A1664B5}"/>
              </a:ext>
            </a:extLst>
          </p:cNvPr>
          <p:cNvSpPr>
            <a:spLocks noGrp="1"/>
          </p:cNvSpPr>
          <p:nvPr>
            <p:ph type="title"/>
          </p:nvPr>
        </p:nvSpPr>
        <p:spPr/>
        <p:txBody>
          <a:bodyPr/>
          <a:lstStyle/>
          <a:p>
            <a:r>
              <a:rPr lang="en-US" dirty="0"/>
              <a:t>Types of Assignments </a:t>
            </a:r>
          </a:p>
        </p:txBody>
      </p:sp>
      <p:sp>
        <p:nvSpPr>
          <p:cNvPr id="3" name="Content Placeholder 2">
            <a:extLst>
              <a:ext uri="{FF2B5EF4-FFF2-40B4-BE49-F238E27FC236}">
                <a16:creationId xmlns:a16="http://schemas.microsoft.com/office/drawing/2014/main" id="{6C8F0741-5BB1-7A0C-E0FB-EC7FEDF8FDE2}"/>
              </a:ext>
            </a:extLst>
          </p:cNvPr>
          <p:cNvSpPr>
            <a:spLocks noGrp="1"/>
          </p:cNvSpPr>
          <p:nvPr>
            <p:ph idx="1"/>
          </p:nvPr>
        </p:nvSpPr>
        <p:spPr/>
        <p:txBody>
          <a:bodyPr/>
          <a:lstStyle/>
          <a:p>
            <a:r>
              <a:rPr lang="en-US" dirty="0"/>
              <a:t>Written</a:t>
            </a:r>
          </a:p>
          <a:p>
            <a:pPr lvl="1"/>
            <a:r>
              <a:rPr lang="en-US" dirty="0"/>
              <a:t>Weekly </a:t>
            </a:r>
          </a:p>
          <a:p>
            <a:r>
              <a:rPr lang="en-US" dirty="0"/>
              <a:t>Verbal/Presentation</a:t>
            </a:r>
          </a:p>
          <a:p>
            <a:pPr lvl="1"/>
            <a:r>
              <a:rPr lang="en-US" dirty="0"/>
              <a:t>Frequently informal, in class</a:t>
            </a:r>
          </a:p>
          <a:p>
            <a:pPr lvl="1"/>
            <a:r>
              <a:rPr lang="en-US" dirty="0"/>
              <a:t>Project-based</a:t>
            </a:r>
          </a:p>
          <a:p>
            <a:r>
              <a:rPr lang="en-US" dirty="0"/>
              <a:t>Coding</a:t>
            </a:r>
          </a:p>
          <a:p>
            <a:pPr lvl="1"/>
            <a:r>
              <a:rPr lang="en-US" dirty="0"/>
              <a:t>Project-based</a:t>
            </a:r>
          </a:p>
          <a:p>
            <a:pPr lvl="1"/>
            <a:endParaRPr lang="en-US" dirty="0"/>
          </a:p>
        </p:txBody>
      </p:sp>
    </p:spTree>
    <p:extLst>
      <p:ext uri="{BB962C8B-B14F-4D97-AF65-F5344CB8AC3E}">
        <p14:creationId xmlns:p14="http://schemas.microsoft.com/office/powerpoint/2010/main" val="30889392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6CE93C-3AAA-F57B-23BF-35F7988435EB}"/>
              </a:ext>
            </a:extLst>
          </p:cNvPr>
          <p:cNvSpPr>
            <a:spLocks noGrp="1"/>
          </p:cNvSpPr>
          <p:nvPr>
            <p:ph type="title"/>
          </p:nvPr>
        </p:nvSpPr>
        <p:spPr/>
        <p:txBody>
          <a:bodyPr/>
          <a:lstStyle/>
          <a:p>
            <a:r>
              <a:rPr lang="en-US" dirty="0"/>
              <a:t>What does success look like?</a:t>
            </a:r>
          </a:p>
        </p:txBody>
      </p:sp>
      <p:sp>
        <p:nvSpPr>
          <p:cNvPr id="5" name="Text Placeholder 4">
            <a:extLst>
              <a:ext uri="{FF2B5EF4-FFF2-40B4-BE49-F238E27FC236}">
                <a16:creationId xmlns:a16="http://schemas.microsoft.com/office/drawing/2014/main" id="{95FAAB18-D691-C384-C3EC-1A7E018DD7D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657747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3D9E5-2A13-244D-DE54-14669542D11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2619D8A-9E79-0E3D-D123-DD2BFEAE7B1D}"/>
              </a:ext>
            </a:extLst>
          </p:cNvPr>
          <p:cNvSpPr>
            <a:spLocks noGrp="1"/>
          </p:cNvSpPr>
          <p:nvPr>
            <p:ph type="title"/>
          </p:nvPr>
        </p:nvSpPr>
        <p:spPr/>
        <p:txBody>
          <a:bodyPr/>
          <a:lstStyle/>
          <a:p>
            <a:r>
              <a:rPr lang="en-US" dirty="0"/>
              <a:t>What does success (A) look like?</a:t>
            </a:r>
          </a:p>
        </p:txBody>
      </p:sp>
      <p:sp>
        <p:nvSpPr>
          <p:cNvPr id="2" name="Content Placeholder 1">
            <a:extLst>
              <a:ext uri="{FF2B5EF4-FFF2-40B4-BE49-F238E27FC236}">
                <a16:creationId xmlns:a16="http://schemas.microsoft.com/office/drawing/2014/main" id="{8DDE9297-758A-8027-F292-4A783B91832D}"/>
              </a:ext>
            </a:extLst>
          </p:cNvPr>
          <p:cNvSpPr>
            <a:spLocks noGrp="1"/>
          </p:cNvSpPr>
          <p:nvPr>
            <p:ph sz="half" idx="1"/>
          </p:nvPr>
        </p:nvSpPr>
        <p:spPr/>
        <p:txBody>
          <a:bodyPr>
            <a:normAutofit lnSpcReduction="10000"/>
          </a:bodyPr>
          <a:lstStyle/>
          <a:p>
            <a:r>
              <a:rPr lang="en-US" dirty="0"/>
              <a:t>Show up</a:t>
            </a:r>
          </a:p>
          <a:p>
            <a:r>
              <a:rPr lang="en-US" dirty="0"/>
              <a:t>Pay attention, close technology</a:t>
            </a:r>
          </a:p>
          <a:p>
            <a:r>
              <a:rPr lang="en-US" dirty="0"/>
              <a:t>Speak up and ask questions</a:t>
            </a:r>
          </a:p>
          <a:p>
            <a:pPr lvl="1"/>
            <a:r>
              <a:rPr lang="en-US" dirty="0"/>
              <a:t>There are no stupid questions</a:t>
            </a:r>
          </a:p>
          <a:p>
            <a:r>
              <a:rPr lang="en-US" dirty="0"/>
              <a:t>Go to office hours frequently</a:t>
            </a:r>
          </a:p>
          <a:p>
            <a:r>
              <a:rPr lang="en-US" dirty="0"/>
              <a:t>Form a study group</a:t>
            </a:r>
          </a:p>
          <a:p>
            <a:pPr lvl="1"/>
            <a:r>
              <a:rPr lang="en-US" dirty="0"/>
              <a:t>Perhaps with your team?</a:t>
            </a:r>
          </a:p>
          <a:p>
            <a:r>
              <a:rPr lang="en-US" dirty="0"/>
              <a:t>Start assignments the day they're assigned.</a:t>
            </a:r>
          </a:p>
          <a:p>
            <a:endParaRPr lang="en-US" dirty="0"/>
          </a:p>
        </p:txBody>
      </p:sp>
      <p:sp>
        <p:nvSpPr>
          <p:cNvPr id="3" name="Content Placeholder 2">
            <a:extLst>
              <a:ext uri="{FF2B5EF4-FFF2-40B4-BE49-F238E27FC236}">
                <a16:creationId xmlns:a16="http://schemas.microsoft.com/office/drawing/2014/main" id="{B2ACB192-D3B8-2FD2-0726-EB22A0252736}"/>
              </a:ext>
            </a:extLst>
          </p:cNvPr>
          <p:cNvSpPr>
            <a:spLocks noGrp="1"/>
          </p:cNvSpPr>
          <p:nvPr>
            <p:ph sz="half" idx="2"/>
          </p:nvPr>
        </p:nvSpPr>
        <p:spPr/>
        <p:txBody>
          <a:bodyPr>
            <a:normAutofit lnSpcReduction="10000"/>
          </a:bodyPr>
          <a:lstStyle/>
          <a:p>
            <a:r>
              <a:rPr lang="en-US" dirty="0"/>
              <a:t>Check the rubric. Follow all directions.</a:t>
            </a:r>
          </a:p>
          <a:p>
            <a:r>
              <a:rPr lang="en-US" dirty="0"/>
              <a:t>Turn in on time.</a:t>
            </a:r>
          </a:p>
          <a:p>
            <a:r>
              <a:rPr lang="en-US" dirty="0"/>
              <a:t>Don't use AI, OR use strictly within defined parameters.</a:t>
            </a:r>
          </a:p>
          <a:p>
            <a:pPr lvl="1"/>
            <a:r>
              <a:rPr lang="en-US" dirty="0"/>
              <a:t>Only copyediting or brief consideration of other avenues.</a:t>
            </a:r>
          </a:p>
          <a:p>
            <a:pPr lvl="1"/>
            <a:r>
              <a:rPr lang="en-US" dirty="0"/>
              <a:t>No using for broad interpretation.</a:t>
            </a:r>
          </a:p>
        </p:txBody>
      </p:sp>
    </p:spTree>
    <p:extLst>
      <p:ext uri="{BB962C8B-B14F-4D97-AF65-F5344CB8AC3E}">
        <p14:creationId xmlns:p14="http://schemas.microsoft.com/office/powerpoint/2010/main" val="167116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3" end="3"/>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9E061-9DC3-8A0E-E5BB-BA5E75E5AF2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2639D6-30BC-0D83-7904-7034961A343A}"/>
              </a:ext>
            </a:extLst>
          </p:cNvPr>
          <p:cNvSpPr>
            <a:spLocks noGrp="1"/>
          </p:cNvSpPr>
          <p:nvPr>
            <p:ph type="title"/>
          </p:nvPr>
        </p:nvSpPr>
        <p:spPr/>
        <p:txBody>
          <a:bodyPr/>
          <a:lstStyle/>
          <a:p>
            <a:r>
              <a:rPr lang="en-US" dirty="0"/>
              <a:t>What does mediocrity (B-C) look like?</a:t>
            </a:r>
          </a:p>
        </p:txBody>
      </p:sp>
      <p:sp>
        <p:nvSpPr>
          <p:cNvPr id="2" name="Content Placeholder 1">
            <a:extLst>
              <a:ext uri="{FF2B5EF4-FFF2-40B4-BE49-F238E27FC236}">
                <a16:creationId xmlns:a16="http://schemas.microsoft.com/office/drawing/2014/main" id="{4E3DA67D-9D20-743A-8539-2C751091E43C}"/>
              </a:ext>
            </a:extLst>
          </p:cNvPr>
          <p:cNvSpPr>
            <a:spLocks noGrp="1"/>
          </p:cNvSpPr>
          <p:nvPr>
            <p:ph sz="half" idx="1"/>
          </p:nvPr>
        </p:nvSpPr>
        <p:spPr/>
        <p:txBody>
          <a:bodyPr>
            <a:normAutofit fontScale="92500" lnSpcReduction="10000"/>
          </a:bodyPr>
          <a:lstStyle/>
          <a:p>
            <a:r>
              <a:rPr lang="en-US" dirty="0"/>
              <a:t>Miss several class periods</a:t>
            </a:r>
          </a:p>
          <a:p>
            <a:r>
              <a:rPr lang="en-US" dirty="0"/>
              <a:t>Occasional shopping/doing the Seminar reading</a:t>
            </a:r>
          </a:p>
          <a:p>
            <a:r>
              <a:rPr lang="en-US" dirty="0"/>
              <a:t>Ask only when you have a genuine question.</a:t>
            </a:r>
          </a:p>
          <a:p>
            <a:r>
              <a:rPr lang="en-US" dirty="0"/>
              <a:t>Go to office hours maybe once.</a:t>
            </a:r>
          </a:p>
          <a:p>
            <a:r>
              <a:rPr lang="en-US" dirty="0"/>
              <a:t>Do things on your own</a:t>
            </a:r>
          </a:p>
          <a:p>
            <a:pPr lvl="1"/>
            <a:r>
              <a:rPr lang="en-US" dirty="0"/>
              <a:t>Maybe talk to others when you have a question</a:t>
            </a:r>
          </a:p>
          <a:p>
            <a:r>
              <a:rPr lang="en-US" dirty="0"/>
              <a:t>Start assignments a few days before it's due.</a:t>
            </a:r>
          </a:p>
          <a:p>
            <a:endParaRPr lang="en-US" dirty="0"/>
          </a:p>
        </p:txBody>
      </p:sp>
      <p:sp>
        <p:nvSpPr>
          <p:cNvPr id="3" name="Content Placeholder 2">
            <a:extLst>
              <a:ext uri="{FF2B5EF4-FFF2-40B4-BE49-F238E27FC236}">
                <a16:creationId xmlns:a16="http://schemas.microsoft.com/office/drawing/2014/main" id="{6FD8D3E8-2FC9-0353-6483-12C82E2566BC}"/>
              </a:ext>
            </a:extLst>
          </p:cNvPr>
          <p:cNvSpPr>
            <a:spLocks noGrp="1"/>
          </p:cNvSpPr>
          <p:nvPr>
            <p:ph sz="half" idx="2"/>
          </p:nvPr>
        </p:nvSpPr>
        <p:spPr/>
        <p:txBody>
          <a:bodyPr>
            <a:normAutofit fontScale="92500" lnSpcReduction="10000"/>
          </a:bodyPr>
          <a:lstStyle/>
          <a:p>
            <a:r>
              <a:rPr lang="en-US" dirty="0"/>
              <a:t>Glance at the rubric, but do all the instructions.</a:t>
            </a:r>
          </a:p>
          <a:p>
            <a:r>
              <a:rPr lang="en-US" dirty="0"/>
              <a:t>Turn in on time.</a:t>
            </a:r>
          </a:p>
          <a:p>
            <a:r>
              <a:rPr lang="en-US" dirty="0"/>
              <a:t>Mostly use AI within parameters.</a:t>
            </a:r>
          </a:p>
          <a:p>
            <a:pPr lvl="1"/>
            <a:r>
              <a:rPr lang="en-US" dirty="0"/>
              <a:t>Use it to help guide your responses</a:t>
            </a:r>
          </a:p>
          <a:p>
            <a:pPr lvl="1"/>
            <a:r>
              <a:rPr lang="en-US" dirty="0"/>
              <a:t>Lean a little too much on its interpretation of the questions.</a:t>
            </a:r>
          </a:p>
        </p:txBody>
      </p:sp>
    </p:spTree>
    <p:extLst>
      <p:ext uri="{BB962C8B-B14F-4D97-AF65-F5344CB8AC3E}">
        <p14:creationId xmlns:p14="http://schemas.microsoft.com/office/powerpoint/2010/main" val="3443585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2" end="2"/>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5007D-A7AF-1C90-DA6E-615898D43B0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5F7580-1357-E8F9-F8B9-7961C682EB2B}"/>
              </a:ext>
            </a:extLst>
          </p:cNvPr>
          <p:cNvSpPr>
            <a:spLocks noGrp="1"/>
          </p:cNvSpPr>
          <p:nvPr>
            <p:ph type="title"/>
          </p:nvPr>
        </p:nvSpPr>
        <p:spPr/>
        <p:txBody>
          <a:bodyPr/>
          <a:lstStyle/>
          <a:p>
            <a:r>
              <a:rPr lang="en-US" dirty="0"/>
              <a:t>What does failure (D-F) look like?</a:t>
            </a:r>
          </a:p>
        </p:txBody>
      </p:sp>
      <p:sp>
        <p:nvSpPr>
          <p:cNvPr id="2" name="Content Placeholder 1">
            <a:extLst>
              <a:ext uri="{FF2B5EF4-FFF2-40B4-BE49-F238E27FC236}">
                <a16:creationId xmlns:a16="http://schemas.microsoft.com/office/drawing/2014/main" id="{C4F5F12F-AE93-1F1D-957C-56E01D21571A}"/>
              </a:ext>
            </a:extLst>
          </p:cNvPr>
          <p:cNvSpPr>
            <a:spLocks noGrp="1"/>
          </p:cNvSpPr>
          <p:nvPr>
            <p:ph sz="half" idx="1"/>
          </p:nvPr>
        </p:nvSpPr>
        <p:spPr/>
        <p:txBody>
          <a:bodyPr>
            <a:normAutofit/>
          </a:bodyPr>
          <a:lstStyle/>
          <a:p>
            <a:r>
              <a:rPr lang="en-US" dirty="0"/>
              <a:t>Miss a majority of class periods</a:t>
            </a:r>
          </a:p>
          <a:p>
            <a:r>
              <a:rPr lang="en-US" dirty="0"/>
              <a:t>Go to class but rarely pay attention.</a:t>
            </a:r>
          </a:p>
          <a:p>
            <a:r>
              <a:rPr lang="en-US" dirty="0"/>
              <a:t>Never go to office hours unless required.</a:t>
            </a:r>
          </a:p>
          <a:p>
            <a:r>
              <a:rPr lang="en-US" dirty="0"/>
              <a:t>Do things on your own</a:t>
            </a:r>
          </a:p>
          <a:p>
            <a:r>
              <a:rPr lang="en-US" dirty="0"/>
              <a:t>Wait until the last minute to start assignments</a:t>
            </a:r>
          </a:p>
          <a:p>
            <a:endParaRPr lang="en-US" dirty="0"/>
          </a:p>
        </p:txBody>
      </p:sp>
      <p:sp>
        <p:nvSpPr>
          <p:cNvPr id="3" name="Content Placeholder 2">
            <a:extLst>
              <a:ext uri="{FF2B5EF4-FFF2-40B4-BE49-F238E27FC236}">
                <a16:creationId xmlns:a16="http://schemas.microsoft.com/office/drawing/2014/main" id="{62656191-F3F9-D0FB-7A81-C80837280CD5}"/>
              </a:ext>
            </a:extLst>
          </p:cNvPr>
          <p:cNvSpPr>
            <a:spLocks noGrp="1"/>
          </p:cNvSpPr>
          <p:nvPr>
            <p:ph sz="half" idx="2"/>
          </p:nvPr>
        </p:nvSpPr>
        <p:spPr/>
        <p:txBody>
          <a:bodyPr>
            <a:normAutofit/>
          </a:bodyPr>
          <a:lstStyle/>
          <a:p>
            <a:r>
              <a:rPr lang="en-US" dirty="0"/>
              <a:t>Assume that turning </a:t>
            </a:r>
            <a:r>
              <a:rPr lang="en-US" i="1" dirty="0"/>
              <a:t>something </a:t>
            </a:r>
            <a:r>
              <a:rPr lang="en-US" dirty="0"/>
              <a:t>in will give you enough points to pass. </a:t>
            </a:r>
          </a:p>
          <a:p>
            <a:r>
              <a:rPr lang="en-US" dirty="0"/>
              <a:t>Paste assignment directions into AI</a:t>
            </a:r>
          </a:p>
        </p:txBody>
      </p:sp>
    </p:spTree>
    <p:extLst>
      <p:ext uri="{BB962C8B-B14F-4D97-AF65-F5344CB8AC3E}">
        <p14:creationId xmlns:p14="http://schemas.microsoft.com/office/powerpoint/2010/main" val="2812575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5F766F-E151-5C27-2F24-DCE4279281D7}"/>
              </a:ext>
            </a:extLst>
          </p:cNvPr>
          <p:cNvSpPr>
            <a:spLocks noGrp="1"/>
          </p:cNvSpPr>
          <p:nvPr>
            <p:ph type="title"/>
          </p:nvPr>
        </p:nvSpPr>
        <p:spPr/>
        <p:txBody>
          <a:bodyPr/>
          <a:lstStyle/>
          <a:p>
            <a:r>
              <a:rPr lang="en-US" dirty="0"/>
              <a:t>My advice</a:t>
            </a:r>
          </a:p>
        </p:txBody>
      </p:sp>
      <p:sp>
        <p:nvSpPr>
          <p:cNvPr id="5" name="Content Placeholder 4">
            <a:extLst>
              <a:ext uri="{FF2B5EF4-FFF2-40B4-BE49-F238E27FC236}">
                <a16:creationId xmlns:a16="http://schemas.microsoft.com/office/drawing/2014/main" id="{7A1B7DB8-A807-06D8-ABAF-E53CCF6680EE}"/>
              </a:ext>
            </a:extLst>
          </p:cNvPr>
          <p:cNvSpPr>
            <a:spLocks noGrp="1"/>
          </p:cNvSpPr>
          <p:nvPr>
            <p:ph idx="1"/>
          </p:nvPr>
        </p:nvSpPr>
        <p:spPr/>
        <p:txBody>
          <a:bodyPr/>
          <a:lstStyle/>
          <a:p>
            <a:r>
              <a:rPr lang="en-US" dirty="0"/>
              <a:t>Decide today where you want to stand.</a:t>
            </a:r>
          </a:p>
          <a:p>
            <a:pPr lvl="1"/>
            <a:r>
              <a:rPr lang="en-US" dirty="0"/>
              <a:t>This class is a foundation for any career in tech. </a:t>
            </a:r>
          </a:p>
          <a:p>
            <a:r>
              <a:rPr lang="en-US" dirty="0"/>
              <a:t>Block off your calendar.</a:t>
            </a:r>
          </a:p>
          <a:p>
            <a:r>
              <a:rPr lang="en-US" dirty="0"/>
              <a:t>Put the time in to make it happen.</a:t>
            </a:r>
          </a:p>
        </p:txBody>
      </p:sp>
    </p:spTree>
    <p:extLst>
      <p:ext uri="{BB962C8B-B14F-4D97-AF65-F5344CB8AC3E}">
        <p14:creationId xmlns:p14="http://schemas.microsoft.com/office/powerpoint/2010/main" val="1915295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F9D3D-1A02-A62B-4707-9BD99635BCA5}"/>
              </a:ext>
            </a:extLst>
          </p:cNvPr>
          <p:cNvSpPr>
            <a:spLocks noGrp="1"/>
          </p:cNvSpPr>
          <p:nvPr>
            <p:ph type="title"/>
          </p:nvPr>
        </p:nvSpPr>
        <p:spPr/>
        <p:txBody>
          <a:bodyPr/>
          <a:lstStyle/>
          <a:p>
            <a:r>
              <a:rPr lang="en-US" dirty="0"/>
              <a:t>I (the instructor) pledge to…</a:t>
            </a:r>
          </a:p>
        </p:txBody>
      </p:sp>
      <p:sp>
        <p:nvSpPr>
          <p:cNvPr id="3" name="Content Placeholder 2">
            <a:extLst>
              <a:ext uri="{FF2B5EF4-FFF2-40B4-BE49-F238E27FC236}">
                <a16:creationId xmlns:a16="http://schemas.microsoft.com/office/drawing/2014/main" id="{89AC4CED-C788-5167-BB68-8BD5FD1B04EA}"/>
              </a:ext>
            </a:extLst>
          </p:cNvPr>
          <p:cNvSpPr>
            <a:spLocks noGrp="1"/>
          </p:cNvSpPr>
          <p:nvPr>
            <p:ph idx="1"/>
          </p:nvPr>
        </p:nvSpPr>
        <p:spPr/>
        <p:txBody>
          <a:bodyPr/>
          <a:lstStyle/>
          <a:p>
            <a:r>
              <a:rPr lang="en-US" dirty="0"/>
              <a:t>Come to class on time</a:t>
            </a:r>
          </a:p>
          <a:p>
            <a:r>
              <a:rPr lang="en-US" dirty="0"/>
              <a:t>Be available for questions during class</a:t>
            </a:r>
          </a:p>
          <a:p>
            <a:r>
              <a:rPr lang="en-US" dirty="0"/>
              <a:t>Be in my office when office hours are scheduled</a:t>
            </a:r>
          </a:p>
          <a:p>
            <a:r>
              <a:rPr lang="en-US" dirty="0"/>
              <a:t>Communicate if I cannot make a scheduled commitment</a:t>
            </a:r>
          </a:p>
          <a:p>
            <a:r>
              <a:rPr lang="en-US" dirty="0"/>
              <a:t>Return grading within 1-2 weeks of the due date</a:t>
            </a:r>
          </a:p>
          <a:p>
            <a:r>
              <a:rPr lang="en-US" dirty="0"/>
              <a:t>Maintain high expectations of you (students)</a:t>
            </a:r>
          </a:p>
          <a:p>
            <a:r>
              <a:rPr lang="en-US" dirty="0"/>
              <a:t>Apologize when I make a mistake, and work to fix it.</a:t>
            </a:r>
          </a:p>
        </p:txBody>
      </p:sp>
    </p:spTree>
    <p:extLst>
      <p:ext uri="{BB962C8B-B14F-4D97-AF65-F5344CB8AC3E}">
        <p14:creationId xmlns:p14="http://schemas.microsoft.com/office/powerpoint/2010/main" val="3308721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6E8A2-D36E-A3F4-F63B-C6B54DE6EC77}"/>
              </a:ext>
            </a:extLst>
          </p:cNvPr>
          <p:cNvSpPr>
            <a:spLocks noGrp="1"/>
          </p:cNvSpPr>
          <p:nvPr>
            <p:ph type="title"/>
          </p:nvPr>
        </p:nvSpPr>
        <p:spPr/>
        <p:txBody>
          <a:bodyPr/>
          <a:lstStyle/>
          <a:p>
            <a:r>
              <a:rPr lang="en-US" dirty="0"/>
              <a:t>We're doing the best we can with the tools we have.</a:t>
            </a:r>
          </a:p>
        </p:txBody>
      </p:sp>
      <p:sp>
        <p:nvSpPr>
          <p:cNvPr id="3" name="Text Placeholder 2">
            <a:extLst>
              <a:ext uri="{FF2B5EF4-FFF2-40B4-BE49-F238E27FC236}">
                <a16:creationId xmlns:a16="http://schemas.microsoft.com/office/drawing/2014/main" id="{4CB87DDF-7098-96F0-1A07-6ED5C093FE94}"/>
              </a:ext>
            </a:extLst>
          </p:cNvPr>
          <p:cNvSpPr>
            <a:spLocks noGrp="1"/>
          </p:cNvSpPr>
          <p:nvPr>
            <p:ph type="body" idx="1"/>
          </p:nvPr>
        </p:nvSpPr>
        <p:spPr/>
        <p:txBody>
          <a:bodyPr/>
          <a:lstStyle/>
          <a:p>
            <a:r>
              <a:rPr lang="en-US" dirty="0"/>
              <a:t>Let's go expand our set of tools.</a:t>
            </a:r>
          </a:p>
        </p:txBody>
      </p:sp>
    </p:spTree>
    <p:extLst>
      <p:ext uri="{BB962C8B-B14F-4D97-AF65-F5344CB8AC3E}">
        <p14:creationId xmlns:p14="http://schemas.microsoft.com/office/powerpoint/2010/main" val="24779569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5488</TotalTime>
  <Words>3058</Words>
  <Application>Microsoft Macintosh PowerPoint</Application>
  <PresentationFormat>Widescreen</PresentationFormat>
  <Paragraphs>359</Paragraphs>
  <Slides>53</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Aptos</vt:lpstr>
      <vt:lpstr>Aptos Display</vt:lpstr>
      <vt:lpstr>Arial</vt:lpstr>
      <vt:lpstr>Wingdings</vt:lpstr>
      <vt:lpstr>Office Theme</vt:lpstr>
      <vt:lpstr>CS 374 Syllabus</vt:lpstr>
      <vt:lpstr>Outline</vt:lpstr>
      <vt:lpstr>Course Goals - Theoretical</vt:lpstr>
      <vt:lpstr>Course Goals - Practical</vt:lpstr>
      <vt:lpstr>The basics: where, when, how</vt:lpstr>
      <vt:lpstr>Office Hours</vt:lpstr>
      <vt:lpstr>The textbook</vt:lpstr>
      <vt:lpstr>Accessibility</vt:lpstr>
      <vt:lpstr>Teamwork Makes the Dream Work</vt:lpstr>
      <vt:lpstr>Teams</vt:lpstr>
      <vt:lpstr>Teams</vt:lpstr>
      <vt:lpstr>Go through the syllabus document</vt:lpstr>
      <vt:lpstr>What's CS 374 about?</vt:lpstr>
      <vt:lpstr>Outline</vt:lpstr>
      <vt:lpstr>Expanding your tool chest</vt:lpstr>
      <vt:lpstr>Example: Too much to do, too little time</vt:lpstr>
      <vt:lpstr>Example: Too much to do, too little time</vt:lpstr>
      <vt:lpstr>What's an algorithm?</vt:lpstr>
      <vt:lpstr>Structure is needed</vt:lpstr>
      <vt:lpstr>Priority Queue</vt:lpstr>
      <vt:lpstr>Desired Functionality</vt:lpstr>
      <vt:lpstr>Subjectivity and Biases</vt:lpstr>
      <vt:lpstr>How to choose what to do?</vt:lpstr>
      <vt:lpstr>You have assumptions</vt:lpstr>
      <vt:lpstr>Book recommendation</vt:lpstr>
      <vt:lpstr>There are few wrong answers in this class.</vt:lpstr>
      <vt:lpstr>Specificity is key.</vt:lpstr>
      <vt:lpstr>How to get there</vt:lpstr>
      <vt:lpstr>There are few wrong answers in this class.</vt:lpstr>
      <vt:lpstr>What does "good" mean, anyway?</vt:lpstr>
      <vt:lpstr>End of CS 222</vt:lpstr>
      <vt:lpstr>CS 374</vt:lpstr>
      <vt:lpstr>In Comparison</vt:lpstr>
      <vt:lpstr>A warning</vt:lpstr>
      <vt:lpstr>Okay, convince me!</vt:lpstr>
      <vt:lpstr>This is not (quite) a writing class</vt:lpstr>
      <vt:lpstr>Why bother with writing and presentations?</vt:lpstr>
      <vt:lpstr>This sucks. It's a lot of work.</vt:lpstr>
      <vt:lpstr>What's a "good" answer?</vt:lpstr>
      <vt:lpstr>How to communicate effectively</vt:lpstr>
      <vt:lpstr>How to get there: Study Tips</vt:lpstr>
      <vt:lpstr>Where to go from here?</vt:lpstr>
      <vt:lpstr>Methods of Evaluation</vt:lpstr>
      <vt:lpstr>Exemplar Rubric: "Give me an algorithm…"</vt:lpstr>
      <vt:lpstr>Exemplar Rubric, cont'd</vt:lpstr>
      <vt:lpstr>Types of Assignments </vt:lpstr>
      <vt:lpstr>What does success look like?</vt:lpstr>
      <vt:lpstr>What does success (A) look like?</vt:lpstr>
      <vt:lpstr>What does mediocrity (B-C) look like?</vt:lpstr>
      <vt:lpstr>What does failure (D-F) look like?</vt:lpstr>
      <vt:lpstr>My advice</vt:lpstr>
      <vt:lpstr>I (the instructor) pledge to…</vt:lpstr>
      <vt:lpstr>We're doing the best we can with the tools we have.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Sarah R Roscoe</dc:creator>
  <cp:lastModifiedBy>Sarah R Roscoe</cp:lastModifiedBy>
  <cp:revision>5</cp:revision>
  <cp:lastPrinted>2026-01-29T01:48:40Z</cp:lastPrinted>
  <dcterms:created xsi:type="dcterms:W3CDTF">2026-01-29T00:30:24Z</dcterms:created>
  <dcterms:modified xsi:type="dcterms:W3CDTF">2026-02-04T18:11:57Z</dcterms:modified>
</cp:coreProperties>
</file>